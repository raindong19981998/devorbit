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0A30FA-C1A1-4A60-A029-F22DECE921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126289-4CBE-4EC7-BE54-E37C42F532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C41C88-9B3D-4AC0-AB04-20167CD447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16375D-7BB4-4F9B-868E-C047DF46DC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C7D7C-9CDB-49E8-9ACB-5ECA3AD600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A11D29-5576-4490-9278-D2A155FE96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5BEDCF-5881-44E0-A153-3106762AE3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5A88BE-1C04-4C63-84C8-41459AFFEC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E9786-A490-4DB6-9D2B-18E6750FA0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DE748E-06C5-40EF-9FD1-0F17995E65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06F728-1EE8-41B0-A4EE-ED773D31793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5CAFEC-30A9-43BD-8F26-3A180B1F20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AC8F1D0-1EEB-4C09-90A5-2F209869063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42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01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4200" spc="-1" strike="noStrike">
                <a:solidFill>
                  <a:srgbClr val="fffdf7"/>
                </a:solidFill>
                <a:latin typeface="Noto Sans CJK SC"/>
              </a:rPr>
              <a:t>DevOrbit</a:t>
            </a:r>
            <a:endParaRPr b="1" lang="en-US" sz="42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ccef73"/>
                </a:solidFill>
                <a:latin typeface="Noto Sans CJK SC"/>
              </a:rPr>
              <a:t>多 </a:t>
            </a:r>
            <a:r>
              <a:rPr b="1" lang="en-US" sz="2500" spc="-1" strike="noStrike">
                <a:solidFill>
                  <a:srgbClr val="ccef73"/>
                </a:solidFill>
                <a:latin typeface="Noto Sans CJK SC"/>
              </a:rPr>
              <a:t>Agent </a:t>
            </a:r>
            <a:r>
              <a:rPr b="1" lang="zh-CN" sz="2500" spc="-1" strike="noStrike">
                <a:solidFill>
                  <a:srgbClr val="ccef73"/>
                </a:solidFill>
                <a:latin typeface="Noto Sans CJK SC"/>
              </a:rPr>
              <a:t>软件研发闭环引擎</a:t>
            </a:r>
            <a:endParaRPr b="1" lang="en-US" sz="25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45" name=""/>
          <p:cNvSpPr/>
          <p:nvPr/>
        </p:nvSpPr>
        <p:spPr>
          <a:xfrm>
            <a:off x="8100000" y="1080000"/>
            <a:ext cx="2808000" cy="3060000"/>
          </a:xfrm>
          <a:prstGeom prst="rect">
            <a:avLst/>
          </a:prstGeom>
          <a:solidFill>
            <a:srgbClr val="1e3942"/>
          </a:solidFill>
          <a:ln w="0">
            <a:solidFill>
              <a:srgbClr val="1e3942"/>
            </a:solidFill>
          </a:ln>
        </p:spPr>
      </p:sp>
      <p:sp>
        <p:nvSpPr>
          <p:cNvPr id="46" name=""/>
          <p:cNvSpPr txBox="1"/>
          <p:nvPr/>
        </p:nvSpPr>
        <p:spPr>
          <a:xfrm>
            <a:off x="8640000" y="1404000"/>
            <a:ext cx="180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缺陷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根因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补丁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验证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发布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  <a:p>
            <a:r>
              <a:rPr b="1" lang="en-US" sz="2300" spc="-1" strike="noStrike">
                <a:solidFill>
                  <a:srgbClr val="ccef73"/>
                </a:solidFill>
                <a:latin typeface="Noto Sans CJK SC"/>
              </a:rPr>
              <a:t>→ </a:t>
            </a:r>
            <a:r>
              <a:rPr b="1" lang="zh-CN" sz="2300" spc="-1" strike="noStrike">
                <a:solidFill>
                  <a:srgbClr val="ccef73"/>
                </a:solidFill>
                <a:latin typeface="Noto Sans CJK SC"/>
              </a:rPr>
              <a:t>知识</a:t>
            </a:r>
            <a:endParaRPr b="1" lang="en-US" sz="23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38000" y="3204000"/>
            <a:ext cx="288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300" spc="-1" strike="noStrike">
                <a:solidFill>
                  <a:srgbClr val="fffdf7"/>
                </a:solidFill>
                <a:latin typeface="Noto Sans CJK SC"/>
              </a:rPr>
              <a:t>初赛方案 </a:t>
            </a:r>
            <a:r>
              <a:rPr b="1" lang="en-US" sz="1300" spc="-1" strike="noStrike">
                <a:solidFill>
                  <a:srgbClr val="fffdf7"/>
                </a:solidFill>
                <a:latin typeface="Noto Sans CJK SC"/>
              </a:rPr>
              <a:t>· V0.5.1</a:t>
            </a:r>
            <a:endParaRPr b="1" lang="en-US" sz="13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5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02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研发缺陷的真正成本，不在写补丁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事实散落在多个系统，人工反复对齐；修复、测试、审批、灰度和复盘由不同角色接力，证据在交接中丢失。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5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5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5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5+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异构信息源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7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个职能环节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1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条统一证据链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场景价值与行业可复制性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25%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2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6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03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一次支付下单异常的完整案例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用户反馈：“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10:15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后支付页一直转圈，刷新后出现两笔订单。”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6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6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6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10:02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配置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80 → 8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10:15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错误率抬升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10:15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幂等存储超时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输出：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Case 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影响图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根因证据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补丁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回滚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测试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灰度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知识卡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3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7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04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判断、能力、连接、证据四层解耦</a:t>
            </a:r>
            <a:endParaRPr b="1" lang="en-US" sz="30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Team Leader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统一委派，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Worker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通过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Skill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调用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MCP Tool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。</a:t>
            </a:r>
            <a:endParaRPr b="0" lang="en-US" sz="18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7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7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7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输入 → </a:t>
            </a:r>
            <a:r>
              <a:rPr b="1" lang="en-US" sz="1900" spc="-1" strike="noStrike">
                <a:solidFill>
                  <a:srgbClr val="fffdf7"/>
                </a:solidFill>
                <a:latin typeface="Noto Sans CJK SC"/>
              </a:rPr>
              <a:t>Team → Skill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fffdf7"/>
                </a:solidFill>
                <a:latin typeface="Noto Sans CJK SC"/>
              </a:rPr>
              <a:t>→ </a:t>
            </a:r>
            <a:r>
              <a:rPr b="1" lang="en-US" sz="1900" spc="-1" strike="noStrike">
                <a:solidFill>
                  <a:srgbClr val="fffdf7"/>
                </a:solidFill>
                <a:latin typeface="Noto Sans CJK SC"/>
              </a:rPr>
              <a:t>MCP 2025-06-18 → Tool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ccef73"/>
                </a:solidFill>
                <a:latin typeface="Noto Sans CJK SC"/>
              </a:rPr>
              <a:t>10 Tools · 15 Calls · Case/Trace/Audit · </a:t>
            </a:r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人类介入</a:t>
            </a:r>
            <a:endParaRPr b="1" lang="en-US" sz="17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4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8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05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七个职能 </a:t>
            </a:r>
            <a:r>
              <a:rPr b="1" lang="en-US" sz="3000" spc="-1" strike="noStrike">
                <a:solidFill>
                  <a:srgbClr val="12231d"/>
                </a:solidFill>
                <a:latin typeface="Noto Sans CJK SC"/>
              </a:rPr>
              <a:t>Agent</a:t>
            </a:r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，一条状态机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Intake · Impact · RCA · Patch · Verify · Release · Learn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8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8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8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received → triaged → diagnosed → planned → verified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→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approval_pending → canary → confirmed → learned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失败回路：补证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返工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停止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·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自动回滚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5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9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06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根因结论必须能被复核</a:t>
            </a:r>
            <a:endParaRPr b="1" lang="en-US" sz="30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首要根因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· 91% · RAG Top-1 KB-HIST-001</a:t>
            </a:r>
            <a:endParaRPr b="0" lang="en-US" sz="18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9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9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9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连接池从 </a:t>
            </a:r>
            <a:r>
              <a:rPr b="1" lang="en-US" sz="1900" spc="-1" strike="noStrike">
                <a:solidFill>
                  <a:srgbClr val="fffdf7"/>
                </a:solidFill>
                <a:latin typeface="Noto Sans CJK SC"/>
              </a:rPr>
              <a:t>80 </a:t>
            </a:r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降为 </a:t>
            </a:r>
            <a:r>
              <a:rPr b="1" lang="en-US" sz="1900" spc="-1" strike="noStrike">
                <a:solidFill>
                  <a:srgbClr val="fffdf7"/>
                </a:solidFill>
                <a:latin typeface="Noto Sans CJK SC"/>
              </a:rPr>
              <a:t>8</a:t>
            </a:r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，幂等键读写排队超时；客户端重试放大重复创建风险。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现场证据 </a:t>
            </a:r>
            <a:r>
              <a:rPr b="1" lang="en-US" sz="1700" spc="-1" strike="noStrike">
                <a:solidFill>
                  <a:srgbClr val="ccef73"/>
                </a:solidFill>
                <a:latin typeface="Noto Sans CJK SC"/>
              </a:rPr>
              <a:t>+ knowledge:// </a:t>
            </a:r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引用；低置信仍停止</a:t>
            </a:r>
            <a:endParaRPr b="1" lang="en-US" sz="17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6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0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07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修复是最小变更，验证是强制门禁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Patch Worker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复制样例仓，先复现失败，再改文件并生成回滚摘要。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0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0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0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poolSize: 8 → 80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queueTimeoutMs: 800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duplicateKey → 409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同一批测试：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3 failed → 4 passed · sha256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制品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7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1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08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高风险动作，默认停在门禁前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Manager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校验 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RCA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、测试和回滚点，签发 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Case/Action/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时效受限的 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HMAC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回执；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Release Worker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只能消费，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MCP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服务端再次验签。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1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1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1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L0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只读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· L1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沙箱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L2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签名审批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+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灰度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L3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只生成方案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6/6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对抗安全案例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越权、伪造、过期、跨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Case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重放和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Schema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混淆均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fail closed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；指标退化触发确定性回滚。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8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12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09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上线不是终点，经验要回到下一次任务</a:t>
            </a:r>
            <a:endParaRPr b="1" lang="en-US" sz="30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KB-20260812-014 ·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连接池缩容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+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幂等重试放大</a:t>
            </a:r>
            <a:endParaRPr b="0" lang="en-US" sz="18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12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12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12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容量策略校验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幂等存储水位告警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  <a:p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重复提交回归纳入门禁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复盘绑定 </a:t>
            </a:r>
            <a:r>
              <a:rPr b="1" lang="en-US" sz="1700" spc="-1" strike="noStrike">
                <a:solidFill>
                  <a:srgbClr val="ccef73"/>
                </a:solidFill>
                <a:latin typeface="Noto Sans CJK SC"/>
              </a:rPr>
              <a:t>Case</a:t>
            </a:r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、代码、测试、审批、灰度和最终结果。</a:t>
            </a:r>
            <a:endParaRPr b="1" lang="en-US" sz="17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9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3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10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把专家经验变成可复用工程资产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7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自定义 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Skill + 1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官方日志 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Skill + 6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类 </a:t>
            </a:r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MCP Adapter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3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3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3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输入输出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Schema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调用条件与失败处理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安全边界与证据引用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Golden Case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评估与版本回滚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官方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SLS Query v0.0.2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合规快照锁定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核心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SKILL.md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未修改；来源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差异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摘要可审计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Intake / RCA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只读接入；默认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Demo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不调用云账号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10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4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11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一键运行，现场可复现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verify-all / AgentTeams contract / POST /mcp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4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4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4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7 Worker · OTLP Agent/Tool Span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10 MCP Tools ·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运行时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Schema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7/7 Golden Cases · 6/6 Security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7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组对照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/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消融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AgentTeams v1.2.2 · 140/140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契约检查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完整策略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100% 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决策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安全；朴素基线 </a:t>
            </a:r>
            <a:r>
              <a:rPr b="1" lang="en-US" sz="1700" spc="-1" strike="noStrike">
                <a:solidFill>
                  <a:srgbClr val="0e7053"/>
                </a:solidFill>
                <a:latin typeface="Noto Sans CJK SC"/>
              </a:rPr>
              <a:t>28.6%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结果为团队构造仿真，不外推生产收益。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11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15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12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从可复现 </a:t>
            </a:r>
            <a:r>
              <a:rPr b="1" lang="en-US" sz="3000" spc="-1" strike="noStrike">
                <a:solidFill>
                  <a:srgbClr val="fffdf7"/>
                </a:solidFill>
                <a:latin typeface="Noto Sans CJK SC"/>
              </a:rPr>
              <a:t>Demo </a:t>
            </a:r>
            <a:r>
              <a:rPr b="1" lang="zh-CN" sz="3000" spc="-1" strike="noStrike">
                <a:solidFill>
                  <a:srgbClr val="fffdf7"/>
                </a:solidFill>
                <a:latin typeface="Noto Sans CJK SC"/>
              </a:rPr>
              <a:t>到开放研发基础设施</a:t>
            </a:r>
            <a:endParaRPr b="1" lang="en-US" sz="30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初赛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V0.5.1 →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复赛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V0.5 → </a:t>
            </a:r>
            <a:r>
              <a:rPr b="0" lang="zh-CN" sz="1800" spc="-1" strike="noStrike">
                <a:solidFill>
                  <a:srgbClr val="b8c9c2"/>
                </a:solidFill>
                <a:latin typeface="Noto Sans CJK SC"/>
              </a:rPr>
              <a:t>决赛 </a:t>
            </a:r>
            <a:r>
              <a:rPr b="0" lang="en-US" sz="1800" spc="-1" strike="noStrike">
                <a:solidFill>
                  <a:srgbClr val="b8c9c2"/>
                </a:solidFill>
                <a:latin typeface="Noto Sans CJK SC"/>
              </a:rPr>
              <a:t>V1.0</a:t>
            </a:r>
            <a:endParaRPr b="0" lang="en-US" sz="18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15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15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15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真实样例</a:t>
            </a:r>
            <a:r>
              <a:rPr b="1" lang="en-US" sz="1900" spc="-1" strike="noStrike">
                <a:solidFill>
                  <a:srgbClr val="fffdf7"/>
                </a:solidFill>
                <a:latin typeface="Noto Sans CJK SC"/>
              </a:rPr>
              <a:t>/MCP/RAG/</a:t>
            </a:r>
            <a:r>
              <a:rPr b="1" lang="zh-CN" sz="1900" spc="-1" strike="noStrike">
                <a:solidFill>
                  <a:srgbClr val="fffdf7"/>
                </a:solidFill>
                <a:latin typeface="Noto Sans CJK SC"/>
              </a:rPr>
              <a:t>策略 → 公开缺陷集 → 真实平台现场闭环</a:t>
            </a:r>
            <a:endParaRPr b="1" lang="en-US" sz="19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开放 </a:t>
            </a:r>
            <a:r>
              <a:rPr b="1" lang="en-US" sz="1700" spc="-1" strike="noStrike">
                <a:solidFill>
                  <a:srgbClr val="ccef73"/>
                </a:solidFill>
                <a:latin typeface="Noto Sans CJK SC"/>
              </a:rPr>
              <a:t>Agent/Skill</a:t>
            </a:r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、</a:t>
            </a:r>
            <a:r>
              <a:rPr b="1" lang="en-US" sz="1700" spc="-1" strike="noStrike">
                <a:solidFill>
                  <a:srgbClr val="ccef73"/>
                </a:solidFill>
                <a:latin typeface="Noto Sans CJK SC"/>
              </a:rPr>
              <a:t>MCP Server</a:t>
            </a:r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、</a:t>
            </a:r>
            <a:r>
              <a:rPr b="1" lang="en-US" sz="1700" spc="-1" strike="noStrike">
                <a:solidFill>
                  <a:srgbClr val="ccef73"/>
                </a:solidFill>
                <a:latin typeface="Noto Sans CJK SC"/>
              </a:rPr>
              <a:t>Schema</a:t>
            </a:r>
            <a:r>
              <a:rPr b="1" lang="zh-CN" sz="1700" spc="-1" strike="noStrike">
                <a:solidFill>
                  <a:srgbClr val="ccef73"/>
                </a:solidFill>
                <a:latin typeface="Noto Sans CJK SC"/>
              </a:rPr>
              <a:t>、策略契约、案例集和评测脚本。</a:t>
            </a:r>
            <a:endParaRPr b="1" lang="en-US" sz="1700" spc="-1" strike="noStrike">
              <a:solidFill>
                <a:srgbClr val="ccef73"/>
              </a:solidFill>
              <a:latin typeface="Noto Sans CJK SC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12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6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13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solidFill>
                  <a:srgbClr val="12231d"/>
                </a:solidFill>
                <a:latin typeface="Noto Sans CJK SC"/>
              </a:rPr>
              <a:t>让每个研发团队，都有一支可验证的交付小队</a:t>
            </a:r>
            <a:endParaRPr b="1" lang="en-US" sz="30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60716a"/>
                </a:solidFill>
                <a:latin typeface="Noto Sans CJK SC"/>
              </a:rPr>
              <a:t>DevOrbit </a:t>
            </a:r>
            <a:r>
              <a:rPr b="0" lang="zh-CN" sz="1800" spc="-1" strike="noStrike">
                <a:solidFill>
                  <a:srgbClr val="60716a"/>
                </a:solidFill>
                <a:latin typeface="Noto Sans CJK SC"/>
              </a:rPr>
              <a:t>不替代专家判断，而是把判断所需的证据、动作的边界和结果的验证组织起来。</a:t>
            </a:r>
            <a:endParaRPr b="0" lang="en-US" sz="18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64" name=""/>
          <p:cNvSpPr/>
          <p:nvPr/>
        </p:nvSpPr>
        <p:spPr>
          <a:xfrm>
            <a:off x="720000" y="2736000"/>
            <a:ext cx="5112000" cy="2160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65" name=""/>
          <p:cNvSpPr/>
          <p:nvPr/>
        </p:nvSpPr>
        <p:spPr>
          <a:xfrm>
            <a:off x="6120000" y="2736000"/>
            <a:ext cx="5328000" cy="2160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66" name=""/>
          <p:cNvSpPr txBox="1"/>
          <p:nvPr/>
        </p:nvSpPr>
        <p:spPr>
          <a:xfrm>
            <a:off x="972000" y="3006000"/>
            <a:ext cx="4572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可运行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·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可审计 </a:t>
            </a:r>
            <a:r>
              <a:rPr b="1" lang="en-US" sz="1900" spc="-1" strike="noStrike">
                <a:solidFill>
                  <a:srgbClr val="12231d"/>
                </a:solidFill>
                <a:latin typeface="Noto Sans CJK SC"/>
              </a:rPr>
              <a:t>· </a:t>
            </a:r>
            <a:r>
              <a:rPr b="1" lang="zh-CN" sz="1900" spc="-1" strike="noStrike">
                <a:solidFill>
                  <a:srgbClr val="12231d"/>
                </a:solidFill>
                <a:latin typeface="Noto Sans CJK SC"/>
              </a:rPr>
              <a:t>可复用</a:t>
            </a:r>
            <a:endParaRPr b="1" lang="en-US" sz="19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372000" y="3006000"/>
            <a:ext cx="4824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0e7053"/>
                </a:solidFill>
                <a:latin typeface="Noto Sans CJK SC"/>
              </a:rPr>
              <a:t>谢谢</a:t>
            </a:r>
            <a:endParaRPr b="1" lang="en-US" sz="1700" spc="-1" strike="noStrike">
              <a:solidFill>
                <a:srgbClr val="0e7053"/>
              </a:solidFill>
              <a:latin typeface="Noto Sans CJK SC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13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7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14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600" spc="-1" strike="noStrike">
                <a:solidFill>
                  <a:srgbClr val="12231d"/>
                </a:solidFill>
                <a:latin typeface="Noto Sans CJK SC"/>
              </a:rPr>
              <a:t>附录 </a:t>
            </a:r>
            <a:r>
              <a:rPr b="1" lang="en-US" sz="2600" spc="-1" strike="noStrike">
                <a:solidFill>
                  <a:srgbClr val="12231d"/>
                </a:solidFill>
                <a:latin typeface="Noto Sans CJK SC"/>
              </a:rPr>
              <a:t>A1 · Agent Identity </a:t>
            </a:r>
            <a:r>
              <a:rPr b="1" lang="zh-CN" sz="2600" spc="-1" strike="noStrike">
                <a:solidFill>
                  <a:srgbClr val="12231d"/>
                </a:solidFill>
                <a:latin typeface="Noto Sans CJK SC"/>
              </a:rPr>
              <a:t>清单</a:t>
            </a:r>
            <a:endParaRPr b="1" lang="en-US" sz="26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官方字段：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Name · Role · Capabilities · Inputs / Outputs · Dependencies · Decision Boundary · Trace</a:t>
            </a:r>
            <a:endParaRPr b="0" lang="en-US" sz="14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74" name=""/>
          <p:cNvSpPr/>
          <p:nvPr/>
        </p:nvSpPr>
        <p:spPr>
          <a:xfrm>
            <a:off x="720000" y="2556000"/>
            <a:ext cx="5112000" cy="3384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75" name=""/>
          <p:cNvSpPr/>
          <p:nvPr/>
        </p:nvSpPr>
        <p:spPr>
          <a:xfrm>
            <a:off x="6120000" y="2556000"/>
            <a:ext cx="5328000" cy="3384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76" name=""/>
          <p:cNvSpPr txBox="1"/>
          <p:nvPr/>
        </p:nvSpPr>
        <p:spPr>
          <a:xfrm>
            <a:off x="972000" y="2718000"/>
            <a:ext cx="4572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DEVORBIT-LEAD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｜主控编排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能：拆解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路由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状态推进；禁：改代码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发布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：原始任务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+ Case →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子任务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状态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升级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7 Worker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｜边界：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L2/L3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人审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：父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Span 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状态版本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消息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升级原因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INTAKE-WORKER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｜信号接入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能：聚合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去重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定级；禁：推断代码根因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5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类信号 →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Canonical Case 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时间线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SignalFusion +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官方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SLS Query + MCP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边界：云日志只读；冲突升级｜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：信号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I/O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摘要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372000" y="2718000"/>
            <a:ext cx="4824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IMPACT-WORKER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｜影响分析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能：代码检索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影响图；禁：写仓库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Case + Repo → Impact Graph 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关键文件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ImpactMap + Repository Tool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边界：只读｜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：文件摘要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工具审计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RCA-WORKER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｜根因诊断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能：候选排序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证据评分；禁：无证据下结论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：时间线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影响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历史 → 根因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证据缺口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EvidenceRCA +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官方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SLS Query + KB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边界：置信度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&lt; 0.80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停止｜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：分数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引用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14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18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15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600" spc="-1" strike="noStrike">
                <a:solidFill>
                  <a:srgbClr val="fffdf7"/>
                </a:solidFill>
                <a:latin typeface="Noto Sans CJK SC"/>
              </a:rPr>
              <a:t>附录 </a:t>
            </a:r>
            <a:r>
              <a:rPr b="1" lang="en-US" sz="2600" spc="-1" strike="noStrike">
                <a:solidFill>
                  <a:srgbClr val="fffdf7"/>
                </a:solidFill>
                <a:latin typeface="Noto Sans CJK SC"/>
              </a:rPr>
              <a:t>A2 · Agent Identity </a:t>
            </a:r>
            <a:r>
              <a:rPr b="1" lang="zh-CN" sz="2600" spc="-1" strike="noStrike">
                <a:solidFill>
                  <a:srgbClr val="fffdf7"/>
                </a:solidFill>
                <a:latin typeface="Noto Sans CJK SC"/>
              </a:rPr>
              <a:t>清单</a:t>
            </a:r>
            <a:endParaRPr b="1" lang="en-US" sz="26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所有 </a:t>
            </a:r>
            <a:r>
              <a:rPr b="0" lang="en-US" sz="1400" spc="-1" strike="noStrike">
                <a:solidFill>
                  <a:srgbClr val="b8c9c2"/>
                </a:solidFill>
                <a:latin typeface="Noto Sans CJK SC"/>
              </a:rPr>
              <a:t>Worker </a:t>
            </a:r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共享 </a:t>
            </a:r>
            <a:r>
              <a:rPr b="0" lang="en-US" sz="1400" spc="-1" strike="noStrike">
                <a:solidFill>
                  <a:srgbClr val="b8c9c2"/>
                </a:solidFill>
                <a:latin typeface="Noto Sans CJK SC"/>
              </a:rPr>
              <a:t>Case / Trace</a:t>
            </a:r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；凭据不进入 </a:t>
            </a:r>
            <a:r>
              <a:rPr b="0" lang="en-US" sz="1400" spc="-1" strike="noStrike">
                <a:solidFill>
                  <a:srgbClr val="b8c9c2"/>
                </a:solidFill>
                <a:latin typeface="Noto Sans CJK SC"/>
              </a:rPr>
              <a:t>Worker </a:t>
            </a:r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上下文，写动作由工具网关按最小权限执行。</a:t>
            </a:r>
            <a:endParaRPr b="0" lang="en-US" sz="14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184" name=""/>
          <p:cNvSpPr/>
          <p:nvPr/>
        </p:nvSpPr>
        <p:spPr>
          <a:xfrm>
            <a:off x="720000" y="2556000"/>
            <a:ext cx="5112000" cy="338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185" name=""/>
          <p:cNvSpPr/>
          <p:nvPr/>
        </p:nvSpPr>
        <p:spPr>
          <a:xfrm>
            <a:off x="6120000" y="2556000"/>
            <a:ext cx="5328000" cy="3384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186" name=""/>
          <p:cNvSpPr txBox="1"/>
          <p:nvPr/>
        </p:nvSpPr>
        <p:spPr>
          <a:xfrm>
            <a:off x="972000" y="2718000"/>
            <a:ext cx="4572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PATCH-WORKER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｜修复计划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能：沙箱补丁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回滚；禁：合并主干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：根因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代码 → 补丁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变更计划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回滚点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PatchPlan + Repository Tool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边界：仅沙箱；越界升级｜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：补丁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基线制品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VERIFY-WORKER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｜质量门禁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能：选测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测试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归档；禁：绕过失败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：补丁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影响 →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Test Report 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制品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TestGate + CI Tool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边界：必选测试失败即阻断｜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：命令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退出码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372000" y="2718000"/>
            <a:ext cx="4824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RELEASE-WORKER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｜发布治理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能：审批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灰度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回滚；禁：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L3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自动执行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：补丁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测试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审批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指标 → 发布决策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ReleaseGuard + Release Tool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边界：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L2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人审；退化回滚｜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：审批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幂等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指标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LEARNING-WORKER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｜知识沉淀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能：复盘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知识卡；禁：改变生产状态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：完整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Trace +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结果 →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Case Card 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预防规则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KnowledgeCard + Knowledge Tool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边界：脱敏后写入｜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Trace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：知识引用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关联证据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15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3f1e9"/>
          </a:solidFill>
          <a:ln w="0">
            <a:solidFill>
              <a:srgbClr val="f3f1e9"/>
            </a:solidFill>
          </a:ln>
        </p:spPr>
      </p:sp>
      <p:sp>
        <p:nvSpPr>
          <p:cNvPr id="19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Courier New"/>
              </a:rPr>
              <a:t>16 / 17   DEVORBIT</a:t>
            </a:r>
            <a:endParaRPr b="1" lang="en-US" sz="1000" spc="-1" strike="noStrike">
              <a:solidFill>
                <a:srgbClr val="0e7053"/>
              </a:solidFill>
              <a:latin typeface="Courier New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600" spc="-1" strike="noStrike">
                <a:solidFill>
                  <a:srgbClr val="12231d"/>
                </a:solidFill>
                <a:latin typeface="Noto Sans CJK SC"/>
              </a:rPr>
              <a:t>附录 </a:t>
            </a:r>
            <a:r>
              <a:rPr b="1" lang="en-US" sz="2600" spc="-1" strike="noStrike">
                <a:solidFill>
                  <a:srgbClr val="12231d"/>
                </a:solidFill>
                <a:latin typeface="Noto Sans CJK SC"/>
              </a:rPr>
              <a:t>B1 · </a:t>
            </a:r>
            <a:r>
              <a:rPr b="1" lang="zh-CN" sz="2600" spc="-1" strike="noStrike">
                <a:solidFill>
                  <a:srgbClr val="12231d"/>
                </a:solidFill>
                <a:latin typeface="Noto Sans CJK SC"/>
              </a:rPr>
              <a:t>核心 </a:t>
            </a:r>
            <a:r>
              <a:rPr b="1" lang="en-US" sz="2600" spc="-1" strike="noStrike">
                <a:solidFill>
                  <a:srgbClr val="12231d"/>
                </a:solidFill>
                <a:latin typeface="Noto Sans CJK SC"/>
              </a:rPr>
              <a:t>Skill </a:t>
            </a:r>
            <a:r>
              <a:rPr b="1" lang="zh-CN" sz="2600" spc="-1" strike="noStrike">
                <a:solidFill>
                  <a:srgbClr val="12231d"/>
                </a:solidFill>
                <a:latin typeface="Noto Sans CJK SC"/>
              </a:rPr>
              <a:t>清单</a:t>
            </a:r>
            <a:endParaRPr b="1" lang="en-US" sz="2600" spc="-1" strike="noStrike">
              <a:solidFill>
                <a:srgbClr val="12231d"/>
              </a:solidFill>
              <a:latin typeface="Noto Sans CJK SC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官方字段：类型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/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场景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· I/O ·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调用条件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依赖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失败处理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安全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复用价值 </a:t>
            </a:r>
            <a:r>
              <a:rPr b="0" lang="en-US" sz="1400" spc="-1" strike="noStrike">
                <a:solidFill>
                  <a:srgbClr val="60716a"/>
                </a:solidFill>
                <a:latin typeface="Noto Sans CJK SC"/>
              </a:rPr>
              <a:t>· </a:t>
            </a:r>
            <a:r>
              <a:rPr b="0" lang="zh-CN" sz="1400" spc="-1" strike="noStrike">
                <a:solidFill>
                  <a:srgbClr val="60716a"/>
                </a:solidFill>
                <a:latin typeface="Noto Sans CJK SC"/>
              </a:rPr>
              <a:t>协同关系</a:t>
            </a:r>
            <a:endParaRPr b="0" lang="en-US" sz="1400" spc="-1" strike="noStrike">
              <a:solidFill>
                <a:srgbClr val="60716a"/>
              </a:solidFill>
              <a:latin typeface="Noto Sans CJK SC"/>
            </a:endParaRPr>
          </a:p>
        </p:txBody>
      </p:sp>
      <p:sp>
        <p:nvSpPr>
          <p:cNvPr id="194" name=""/>
          <p:cNvSpPr/>
          <p:nvPr/>
        </p:nvSpPr>
        <p:spPr>
          <a:xfrm>
            <a:off x="720000" y="2556000"/>
            <a:ext cx="5112000" cy="3384000"/>
          </a:xfrm>
          <a:prstGeom prst="rect">
            <a:avLst/>
          </a:prstGeom>
          <a:solidFill>
            <a:srgbClr val="fffdf7"/>
          </a:solidFill>
          <a:ln w="0">
            <a:solidFill>
              <a:srgbClr val="d6d9cf"/>
            </a:solidFill>
          </a:ln>
        </p:spPr>
      </p:sp>
      <p:sp>
        <p:nvSpPr>
          <p:cNvPr id="195" name=""/>
          <p:cNvSpPr/>
          <p:nvPr/>
        </p:nvSpPr>
        <p:spPr>
          <a:xfrm>
            <a:off x="6120000" y="2556000"/>
            <a:ext cx="5328000" cy="3384000"/>
          </a:xfrm>
          <a:prstGeom prst="rect">
            <a:avLst/>
          </a:prstGeom>
          <a:solidFill>
            <a:srgbClr val="e7ebdd"/>
          </a:solidFill>
          <a:ln w="0">
            <a:solidFill>
              <a:srgbClr val="d6d9cf"/>
            </a:solidFill>
          </a:ln>
        </p:spPr>
      </p:sp>
      <p:sp>
        <p:nvSpPr>
          <p:cNvPr id="196" name=""/>
          <p:cNvSpPr txBox="1"/>
          <p:nvPr/>
        </p:nvSpPr>
        <p:spPr>
          <a:xfrm>
            <a:off x="972000" y="2718000"/>
            <a:ext cx="4572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SIGNALFUSION v1.0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多源归并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Signals → Case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｜条件：新信号进入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Issue + Observability Tool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安全：解析隔离、冲突人审、只读脱敏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复用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协同：告警工单归并；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Intake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形成唯一输入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IMPACTMAP v1.0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影响分析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Case + Repo → Impact Graph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｜条件：已归并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依赖：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Repository Tool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安全：索引刷新、证据缺口、仓库只读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复用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协同：变更评审；约束 </a:t>
            </a:r>
            <a:r>
              <a:rPr b="1" lang="en-US" sz="1000" spc="-1" strike="noStrike">
                <a:solidFill>
                  <a:srgbClr val="12231d"/>
                </a:solidFill>
                <a:latin typeface="Noto Sans CJK SC"/>
              </a:rPr>
              <a:t>RCA / Patch </a:t>
            </a:r>
            <a:r>
              <a:rPr b="1" lang="zh-CN" sz="1000" spc="-1" strike="noStrike">
                <a:solidFill>
                  <a:srgbClr val="12231d"/>
                </a:solidFill>
                <a:latin typeface="Noto Sans CJK SC"/>
              </a:rPr>
              <a:t>范围</a:t>
            </a:r>
            <a:endParaRPr b="1" lang="en-US" sz="1000" spc="-1" strike="noStrike">
              <a:solidFill>
                <a:srgbClr val="12231d"/>
              </a:solidFill>
              <a:latin typeface="Noto Sans CJK SC"/>
              <a:ea typeface="Noto Sans CJK SC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372000" y="2718000"/>
            <a:ext cx="4824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EVIDENCERCA v1.0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根因排序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Timeline + Impact + KB → Causes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条件：至少两类证据｜依赖：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Knowledge Tool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安全：低置信停止；结论强制绑定引用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复用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协同：测试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生产缺陷；决定能否自动修复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PATCHPLAN v1.0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最小修复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Root Cause + Repo → Plan / Rollback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条件：置信度 ≥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0.80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｜依赖：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Repository Tool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安全：失败回滚沙箱；禁止污染主干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复用 </a:t>
            </a:r>
            <a:r>
              <a:rPr b="1" lang="en-US" sz="1000" spc="-1" strike="noStrike">
                <a:solidFill>
                  <a:srgbClr val="0e705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0e7053"/>
                </a:solidFill>
                <a:latin typeface="Noto Sans CJK SC"/>
              </a:rPr>
              <a:t>协同：常见修复；把诊断转为可逆变更</a:t>
            </a:r>
            <a:endParaRPr b="1" lang="en-US" sz="1000" spc="-1" strike="noStrike">
              <a:solidFill>
                <a:srgbClr val="0e7053"/>
              </a:solidFill>
              <a:latin typeface="Noto Sans CJK SC"/>
              <a:ea typeface="Noto Sans CJK SC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0716a"/>
                </a:solidFill>
                <a:latin typeface="Courier New"/>
              </a:rPr>
              <a:t>16</a:t>
            </a:r>
            <a:endParaRPr b="0" lang="en-US" sz="900" spc="-1" strike="noStrike">
              <a:solidFill>
                <a:srgbClr val="60716a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162b35"/>
          </a:solidFill>
          <a:ln w="0">
            <a:solidFill>
              <a:srgbClr val="162b35"/>
            </a:solidFill>
          </a:ln>
        </p:spPr>
      </p:sp>
      <p:sp>
        <p:nvSpPr>
          <p:cNvPr id="201" name=""/>
          <p:cNvSpPr txBox="1"/>
          <p:nvPr/>
        </p:nvSpPr>
        <p:spPr>
          <a:xfrm>
            <a:off x="720000" y="414000"/>
            <a:ext cx="36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Courier New"/>
              </a:rPr>
              <a:t>17 / 17   DEVORBIT</a:t>
            </a:r>
            <a:endParaRPr b="1" lang="en-US" sz="1000" spc="-1" strike="noStrike">
              <a:solidFill>
                <a:srgbClr val="ccef73"/>
              </a:solidFill>
              <a:latin typeface="Courier New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20000" y="864000"/>
            <a:ext cx="1080000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600" spc="-1" strike="noStrike">
                <a:solidFill>
                  <a:srgbClr val="fffdf7"/>
                </a:solidFill>
                <a:latin typeface="Noto Sans CJK SC"/>
              </a:rPr>
              <a:t>附录 </a:t>
            </a:r>
            <a:r>
              <a:rPr b="1" lang="en-US" sz="2600" spc="-1" strike="noStrike">
                <a:solidFill>
                  <a:srgbClr val="fffdf7"/>
                </a:solidFill>
                <a:latin typeface="Noto Sans CJK SC"/>
              </a:rPr>
              <a:t>B2 · </a:t>
            </a:r>
            <a:r>
              <a:rPr b="1" lang="zh-CN" sz="2600" spc="-1" strike="noStrike">
                <a:solidFill>
                  <a:srgbClr val="fffdf7"/>
                </a:solidFill>
                <a:latin typeface="Noto Sans CJK SC"/>
              </a:rPr>
              <a:t>核心 </a:t>
            </a:r>
            <a:r>
              <a:rPr b="1" lang="en-US" sz="2600" spc="-1" strike="noStrike">
                <a:solidFill>
                  <a:srgbClr val="fffdf7"/>
                </a:solidFill>
                <a:latin typeface="Noto Sans CJK SC"/>
              </a:rPr>
              <a:t>Skill </a:t>
            </a:r>
            <a:r>
              <a:rPr b="1" lang="zh-CN" sz="2600" spc="-1" strike="noStrike">
                <a:solidFill>
                  <a:srgbClr val="fffdf7"/>
                </a:solidFill>
                <a:latin typeface="Noto Sans CJK SC"/>
              </a:rPr>
              <a:t>清单</a:t>
            </a:r>
            <a:endParaRPr b="1" lang="en-US" sz="2600" spc="-1" strike="noStrike">
              <a:solidFill>
                <a:srgbClr val="fffdf7"/>
              </a:solidFill>
              <a:latin typeface="Noto Sans CJK SC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38000" y="1800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b8c9c2"/>
                </a:solidFill>
                <a:latin typeface="Noto Sans CJK SC"/>
              </a:rPr>
              <a:t>7 </a:t>
            </a:r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个自定义 </a:t>
            </a:r>
            <a:r>
              <a:rPr b="0" lang="en-US" sz="1400" spc="-1" strike="noStrike">
                <a:solidFill>
                  <a:srgbClr val="b8c9c2"/>
                </a:solidFill>
                <a:latin typeface="Noto Sans CJK SC"/>
              </a:rPr>
              <a:t>Skill </a:t>
            </a:r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有回归门禁；官方 </a:t>
            </a:r>
            <a:r>
              <a:rPr b="0" lang="en-US" sz="1400" spc="-1" strike="noStrike">
                <a:solidFill>
                  <a:srgbClr val="b8c9c2"/>
                </a:solidFill>
                <a:latin typeface="Noto Sans CJK SC"/>
              </a:rPr>
              <a:t>Skill </a:t>
            </a:r>
            <a:r>
              <a:rPr b="0" lang="zh-CN" sz="1400" spc="-1" strike="noStrike">
                <a:solidFill>
                  <a:srgbClr val="b8c9c2"/>
                </a:solidFill>
                <a:latin typeface="Noto Sans CJK SC"/>
              </a:rPr>
              <a:t>固定门户版本、裁剪差异与摘要。</a:t>
            </a:r>
            <a:endParaRPr b="0" lang="en-US" sz="1400" spc="-1" strike="noStrike">
              <a:solidFill>
                <a:srgbClr val="b8c9c2"/>
              </a:solidFill>
              <a:latin typeface="Noto Sans CJK SC"/>
            </a:endParaRPr>
          </a:p>
        </p:txBody>
      </p:sp>
      <p:sp>
        <p:nvSpPr>
          <p:cNvPr id="204" name=""/>
          <p:cNvSpPr/>
          <p:nvPr/>
        </p:nvSpPr>
        <p:spPr>
          <a:xfrm>
            <a:off x="720000" y="2556000"/>
            <a:ext cx="5112000" cy="3384000"/>
          </a:xfrm>
          <a:prstGeom prst="rect">
            <a:avLst/>
          </a:prstGeom>
          <a:solidFill>
            <a:srgbClr val="1e3942"/>
          </a:solidFill>
          <a:ln w="0">
            <a:solidFill>
              <a:srgbClr val="31505a"/>
            </a:solidFill>
          </a:ln>
        </p:spPr>
      </p:sp>
      <p:sp>
        <p:nvSpPr>
          <p:cNvPr id="205" name=""/>
          <p:cNvSpPr/>
          <p:nvPr/>
        </p:nvSpPr>
        <p:spPr>
          <a:xfrm>
            <a:off x="6120000" y="2556000"/>
            <a:ext cx="5328000" cy="3384000"/>
          </a:xfrm>
          <a:prstGeom prst="rect">
            <a:avLst/>
          </a:prstGeom>
          <a:solidFill>
            <a:srgbClr val="203b44"/>
          </a:solidFill>
          <a:ln w="0">
            <a:solidFill>
              <a:srgbClr val="31505a"/>
            </a:solidFill>
          </a:ln>
        </p:spPr>
      </p:sp>
      <p:sp>
        <p:nvSpPr>
          <p:cNvPr id="206" name=""/>
          <p:cNvSpPr txBox="1"/>
          <p:nvPr/>
        </p:nvSpPr>
        <p:spPr>
          <a:xfrm>
            <a:off x="972000" y="2718000"/>
            <a:ext cx="4572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TESTGATE v1.0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回归门禁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Plan + Impact → Test Report / Artifact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条件：补丁后｜依赖：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CI Tool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安全：超时重试；失败阻断；命令白名单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复用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协同：提交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发布门禁；给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Release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硬证据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RELEASEGUARD v1.0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发布治理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Plan + Tests + Policy → Release Decision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条件：测试全绿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+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回滚点｜依赖：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Release Tool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安全：审批超时人审；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L2/L3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；退化回滚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复用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fffdf7"/>
                </a:solidFill>
                <a:latin typeface="Noto Sans CJK SC"/>
              </a:rPr>
              <a:t>协同：全部发布流程；结果交给 </a:t>
            </a:r>
            <a:r>
              <a:rPr b="1" lang="en-US" sz="1000" spc="-1" strike="noStrike">
                <a:solidFill>
                  <a:srgbClr val="fffdf7"/>
                </a:solidFill>
                <a:latin typeface="Noto Sans CJK SC"/>
              </a:rPr>
              <a:t>Learn</a:t>
            </a:r>
            <a:endParaRPr b="1" lang="en-US" sz="1000" spc="-1" strike="noStrike">
              <a:solidFill>
                <a:srgbClr val="fffdf7"/>
              </a:solidFill>
              <a:latin typeface="Noto Sans CJK SC"/>
              <a:ea typeface="Noto Sans CJK SC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372000" y="2718000"/>
            <a:ext cx="4824000" cy="29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KNOWLEDGECARD v1.0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｜自定义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复盘沉淀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Trace + Outcome → Case Card 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预防规则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条件：达到终态｜依赖：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Knowledge Tool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安全：脱敏失败生成待审草稿，不写入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SLS QUERY v0.0.2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｜官方用云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日志证据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I/O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Project + Logstore + Intent → Logs / Aggregates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条件：显式云配置｜依赖：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Aliyun CLI ≥ 3.3.8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失败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/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安全：无凭据即停止；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GetIndex / GetLogsV2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只读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  <a:p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协同：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Intake / RCA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；默认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Demo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使用 </a:t>
            </a:r>
            <a:r>
              <a:rPr b="1" lang="en-US" sz="1000" spc="-1" strike="noStrike">
                <a:solidFill>
                  <a:srgbClr val="ccef73"/>
                </a:solidFill>
                <a:latin typeface="Noto Sans CJK SC"/>
              </a:rPr>
              <a:t>Fixture </a:t>
            </a:r>
            <a:r>
              <a:rPr b="1" lang="zh-CN" sz="1000" spc="-1" strike="noStrike">
                <a:solidFill>
                  <a:srgbClr val="ccef73"/>
                </a:solidFill>
                <a:latin typeface="Noto Sans CJK SC"/>
              </a:rPr>
              <a:t>回退</a:t>
            </a:r>
            <a:endParaRPr b="1" lang="en-US" sz="1000" spc="-1" strike="noStrike">
              <a:solidFill>
                <a:srgbClr val="ccef73"/>
              </a:solidFill>
              <a:latin typeface="Noto Sans CJK SC"/>
              <a:ea typeface="Noto Sans CJK SC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20000" y="6408000"/>
            <a:ext cx="738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AgentTeams · Skill · MCP 2025-06-18 · RAG · Evidence-first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0980000" y="6408000"/>
            <a:ext cx="504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c9c2"/>
                </a:solidFill>
                <a:latin typeface="Courier New"/>
              </a:rPr>
              <a:t>17</a:t>
            </a:r>
            <a:endParaRPr b="0" lang="en-US" sz="900" spc="-1" strike="noStrike">
              <a:solidFill>
                <a:srgbClr val="b8c9c2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2026-08-13T19:22:33Z</dcterms:created>
  <dc:creator/>
  <dc:description/>
  <dc:language>en-US</dc:language>
  <cp:lastModifiedBy/>
  <dcterms:modified xsi:type="dcterms:W3CDTF">2026-08-13T19:22:35Z</dcterms:modified>
  <cp:revision>1</cp:revision>
  <dc:subject/>
  <dc:title/>
</cp:coreProperties>
</file>