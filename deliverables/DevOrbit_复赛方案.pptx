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A22A15-8051-4655-B1E7-9B57F5242D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E5DD7-32B3-4A2D-A560-7D9F981663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1F08B-C516-4292-AEF8-8A88A502B3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B6AF08-26DC-4F11-86E7-2AB250E883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62F73-4E57-4CC4-8C69-82B12DAA14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C32A2-84D5-4B06-B72E-B170CF0F6A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43DB6-7D22-4509-AF4B-A4AB9A227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2F3FFE-2BA1-4EE8-A1E6-1680BBD889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1206B7-328D-4939-B47A-3832DA3DBA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5AB51-71C5-4CE4-9FF6-6A9ACC413A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0C97A4-E512-46F7-8E55-ECC84B7BD4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8A01C9-2ABC-4D24-8C22-DCD70750DF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EA39E10-C78C-4391-BA42-6B6BEC14D07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42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01 / 18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000" spc="-1" strike="noStrike">
                <a:solidFill>
                  <a:srgbClr val="fffdf7"/>
                </a:solidFill>
                <a:latin typeface="Noto Sans CJK SC"/>
              </a:rPr>
              <a:t>DevOrbit</a:t>
            </a:r>
            <a:endParaRPr b="1" lang="en-US" sz="4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400" spc="-1" strike="noStrike">
                <a:solidFill>
                  <a:srgbClr val="ccef73"/>
                </a:solidFill>
                <a:latin typeface="Noto Sans CJK SC"/>
              </a:rPr>
              <a:t>自动处理线上缺陷的多 </a:t>
            </a:r>
            <a:r>
              <a:rPr b="1" lang="en-US" sz="2400" spc="-1" strike="noStrike">
                <a:solidFill>
                  <a:srgbClr val="ccef73"/>
                </a:solidFill>
                <a:latin typeface="Noto Sans CJK SC"/>
              </a:rPr>
              <a:t>Agent </a:t>
            </a:r>
            <a:r>
              <a:rPr b="1" lang="zh-CN" sz="2400" spc="-1" strike="noStrike">
                <a:solidFill>
                  <a:srgbClr val="ccef73"/>
                </a:solidFill>
                <a:latin typeface="Noto Sans CJK SC"/>
              </a:rPr>
              <a:t>研发平台</a:t>
            </a:r>
            <a:endParaRPr b="1" lang="en-US" sz="24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45" name=""/>
          <p:cNvSpPr/>
          <p:nvPr/>
        </p:nvSpPr>
        <p:spPr>
          <a:xfrm>
            <a:off x="8100000" y="1080000"/>
            <a:ext cx="2808000" cy="3060000"/>
          </a:xfrm>
          <a:prstGeom prst="rect">
            <a:avLst/>
          </a:prstGeom>
          <a:solidFill>
            <a:srgbClr val="1e3942"/>
          </a:solidFill>
          <a:ln w="0">
            <a:solidFill>
              <a:srgbClr val="1e3942"/>
            </a:solidFill>
          </a:ln>
        </p:spPr>
      </p:sp>
      <p:sp>
        <p:nvSpPr>
          <p:cNvPr id="46" name=""/>
          <p:cNvSpPr txBox="1"/>
          <p:nvPr/>
        </p:nvSpPr>
        <p:spPr>
          <a:xfrm>
            <a:off x="8640000" y="1404000"/>
            <a:ext cx="180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缺陷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根因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补丁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验证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发布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知识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38000" y="2448000"/>
            <a:ext cx="63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输入 </a:t>
            </a:r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Issue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、日志与代码仓；输出根因、代码补丁、测试报告、发布决策和可审计证据链。</a:t>
            </a:r>
            <a:endParaRPr b="0" lang="en-US" sz="15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38000" y="3204000"/>
            <a:ext cx="558000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GOAI Agent Infra ·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复赛方案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V1.0.0 · 2026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年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8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月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31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日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49" name=""/>
          <p:cNvSpPr/>
          <p:nvPr/>
        </p:nvSpPr>
        <p:spPr>
          <a:xfrm>
            <a:off x="738000" y="4248000"/>
            <a:ext cx="1080000" cy="3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50" name=""/>
          <p:cNvSpPr txBox="1"/>
          <p:nvPr/>
        </p:nvSpPr>
        <p:spPr>
          <a:xfrm>
            <a:off x="846000" y="4338000"/>
            <a:ext cx="936000" cy="12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AGENTTEAMS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51" name=""/>
          <p:cNvSpPr/>
          <p:nvPr/>
        </p:nvSpPr>
        <p:spPr>
          <a:xfrm>
            <a:off x="1926000" y="4248000"/>
            <a:ext cx="1080000" cy="3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52" name=""/>
          <p:cNvSpPr txBox="1"/>
          <p:nvPr/>
        </p:nvSpPr>
        <p:spPr>
          <a:xfrm>
            <a:off x="2034000" y="4338000"/>
            <a:ext cx="936000" cy="12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SKILL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53" name=""/>
          <p:cNvSpPr/>
          <p:nvPr/>
        </p:nvSpPr>
        <p:spPr>
          <a:xfrm>
            <a:off x="3114000" y="4248000"/>
            <a:ext cx="1080000" cy="3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54" name=""/>
          <p:cNvSpPr txBox="1"/>
          <p:nvPr/>
        </p:nvSpPr>
        <p:spPr>
          <a:xfrm>
            <a:off x="3222000" y="4338000"/>
            <a:ext cx="936000" cy="12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MCP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55" name=""/>
          <p:cNvSpPr/>
          <p:nvPr/>
        </p:nvSpPr>
        <p:spPr>
          <a:xfrm>
            <a:off x="4302000" y="4248000"/>
            <a:ext cx="1080000" cy="3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56" name=""/>
          <p:cNvSpPr txBox="1"/>
          <p:nvPr/>
        </p:nvSpPr>
        <p:spPr>
          <a:xfrm>
            <a:off x="4410000" y="4338000"/>
            <a:ext cx="936000" cy="12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DB BRANCH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57" name=""/>
          <p:cNvSpPr/>
          <p:nvPr/>
        </p:nvSpPr>
        <p:spPr>
          <a:xfrm>
            <a:off x="5490000" y="4248000"/>
            <a:ext cx="1080000" cy="3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58" name=""/>
          <p:cNvSpPr txBox="1"/>
          <p:nvPr/>
        </p:nvSpPr>
        <p:spPr>
          <a:xfrm>
            <a:off x="5598000" y="4338000"/>
            <a:ext cx="936000" cy="12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HASH CHAIN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62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02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初赛反馈的具体调整点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逐条回应评审反馈；红色为本版本（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V0.9.6 → V1.0.0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）新增或强化。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65" name=""/>
          <p:cNvSpPr/>
          <p:nvPr/>
        </p:nvSpPr>
        <p:spPr>
          <a:xfrm>
            <a:off x="720000" y="2520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66" name=""/>
          <p:cNvSpPr txBox="1"/>
          <p:nvPr/>
        </p:nvSpPr>
        <p:spPr>
          <a:xfrm>
            <a:off x="972000" y="271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初赛反馈 → 调整</a:t>
            </a:r>
            <a:endParaRPr b="1" lang="en-US" sz="12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72000" y="2988000"/>
            <a:ext cx="457200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反馈：多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Agent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协同证据不足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AgentTeams v1.2.2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官方本地实跑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18/18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动态补证回边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返工回边（非固定顺序）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反馈：效果缺少外部有效性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30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案例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SWE-bench dev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冻结基准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三维消融（管道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模型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架构）全披露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68" name=""/>
          <p:cNvSpPr/>
          <p:nvPr/>
        </p:nvSpPr>
        <p:spPr>
          <a:xfrm>
            <a:off x="6120000" y="2520000"/>
            <a:ext cx="5328000" cy="1512000"/>
          </a:xfrm>
          <a:prstGeom prst="rect">
            <a:avLst/>
          </a:prstGeom>
          <a:solidFill>
            <a:srgbClr val="fffdf7"/>
          </a:solidFill>
          <a:ln w="0">
            <a:solidFill>
              <a:srgbClr val="c0392b"/>
            </a:solidFill>
          </a:ln>
        </p:spPr>
      </p:sp>
      <p:sp>
        <p:nvSpPr>
          <p:cNvPr id="69" name=""/>
          <p:cNvSpPr txBox="1"/>
          <p:nvPr/>
        </p:nvSpPr>
        <p:spPr>
          <a:xfrm>
            <a:off x="6372000" y="271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c0392b"/>
                </a:solidFill>
                <a:latin typeface="Noto Sans CJK SC"/>
              </a:rPr>
              <a:t>V1.0.0 </a:t>
            </a:r>
            <a:r>
              <a:rPr b="1" lang="zh-CN" sz="1200" spc="-1" strike="noStrike">
                <a:solidFill>
                  <a:srgbClr val="c0392b"/>
                </a:solidFill>
                <a:latin typeface="Noto Sans CJK SC"/>
              </a:rPr>
              <a:t>新增（标红）</a:t>
            </a:r>
            <a:endParaRPr b="1" lang="en-US" sz="1200" spc="-1" strike="noStrike">
              <a:solidFill>
                <a:srgbClr val="c0392b"/>
              </a:solidFill>
              <a:latin typeface="Noto Sans CJK SC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372000" y="2988000"/>
            <a:ext cx="4824000" cy="9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①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状态持久化与重启恢复：进程崩溃后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  <a:p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审批挂起案例自动恢复续跑（同 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case/trace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）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② 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Skill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版本溯源：每次运行记录版本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+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摘要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</p:txBody>
      </p:sp>
      <p:sp>
        <p:nvSpPr>
          <p:cNvPr id="71" name=""/>
          <p:cNvSpPr/>
          <p:nvPr/>
        </p:nvSpPr>
        <p:spPr>
          <a:xfrm>
            <a:off x="6120000" y="4140000"/>
            <a:ext cx="5328000" cy="1548000"/>
          </a:xfrm>
          <a:prstGeom prst="rect">
            <a:avLst/>
          </a:prstGeom>
          <a:solidFill>
            <a:srgbClr val="fffdf7"/>
          </a:solidFill>
          <a:ln w="0">
            <a:solidFill>
              <a:srgbClr val="c0392b"/>
            </a:solidFill>
          </a:ln>
        </p:spPr>
      </p:sp>
      <p:sp>
        <p:nvSpPr>
          <p:cNvPr id="72" name=""/>
          <p:cNvSpPr txBox="1"/>
          <p:nvPr/>
        </p:nvSpPr>
        <p:spPr>
          <a:xfrm>
            <a:off x="6372000" y="433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c0392b"/>
                </a:solidFill>
                <a:latin typeface="Noto Sans CJK SC"/>
              </a:rPr>
              <a:t>V1.0.0 </a:t>
            </a:r>
            <a:r>
              <a:rPr b="1" lang="zh-CN" sz="1200" spc="-1" strike="noStrike">
                <a:solidFill>
                  <a:srgbClr val="c0392b"/>
                </a:solidFill>
                <a:latin typeface="Noto Sans CJK SC"/>
              </a:rPr>
              <a:t>新增（标红）续</a:t>
            </a:r>
            <a:endParaRPr b="1" lang="en-US" sz="1200" spc="-1" strike="noStrike">
              <a:solidFill>
                <a:srgbClr val="c0392b"/>
              </a:solidFill>
              <a:latin typeface="Noto Sans CJK SC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372000" y="4608000"/>
            <a:ext cx="4824000" cy="100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③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第二类场景迁移：结算→库存，机制零改动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④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可靠性故障演练 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6/6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（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429/500/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工具错误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/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DB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门禁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/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端点不可达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/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熔断）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  <a:p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⑤ </a:t>
            </a:r>
            <a:r>
              <a:rPr b="1" lang="zh-CN" sz="1100" spc="-1" strike="noStrike">
                <a:solidFill>
                  <a:srgbClr val="c0392b"/>
                </a:solidFill>
                <a:latin typeface="Noto Sans CJK SC"/>
              </a:rPr>
              <a:t>上下文治理：租户硬过滤、陈旧阻断、</a:t>
            </a:r>
            <a:r>
              <a:rPr b="1" lang="en-US" sz="1100" spc="-1" strike="noStrike">
                <a:solidFill>
                  <a:srgbClr val="c0392b"/>
                </a:solidFill>
                <a:latin typeface="Noto Sans CJK SC"/>
              </a:rPr>
              <a:t>TTL</a:t>
            </a:r>
            <a:endParaRPr b="1" lang="en-US" sz="1100" spc="-1" strike="noStrike">
              <a:solidFill>
                <a:srgbClr val="c0392b"/>
              </a:solidFill>
              <a:latin typeface="Noto Sans CJK SC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2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77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03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场景闭环：谁在用、痛在哪、得到什么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目标用户、现实流程、价值收益与输入输出链路。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80" name=""/>
          <p:cNvSpPr/>
          <p:nvPr/>
        </p:nvSpPr>
        <p:spPr>
          <a:xfrm>
            <a:off x="720000" y="2520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81" name=""/>
          <p:cNvSpPr txBox="1"/>
          <p:nvPr/>
        </p:nvSpPr>
        <p:spPr>
          <a:xfrm>
            <a:off x="972000" y="2718000"/>
            <a:ext cx="43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目标用户 </a:t>
            </a:r>
            <a:r>
              <a:rPr b="1" lang="en-US" sz="12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核心痛点（真实失败代价）</a:t>
            </a:r>
            <a:endParaRPr b="1" lang="en-US" sz="12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72000" y="2988000"/>
            <a:ext cx="4572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目标用户与现实流程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值班研发：在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Issue/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日志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指标间对时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开发与测试：重新确认影响、修复和回归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发布负责人：重新核对审批、灰度与回滚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真实失败代价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误修：表象信号误导修错服务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漏检：证据分散在多系统难对齐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返工：失败补丁反复重做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生产中断：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MTTR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人工基线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3250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秒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83" name=""/>
          <p:cNvSpPr/>
          <p:nvPr/>
        </p:nvSpPr>
        <p:spPr>
          <a:xfrm>
            <a:off x="6120000" y="2520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0e7053"/>
            </a:solidFill>
          </a:ln>
        </p:spPr>
      </p:sp>
      <p:sp>
        <p:nvSpPr>
          <p:cNvPr id="84" name=""/>
          <p:cNvSpPr txBox="1"/>
          <p:nvPr/>
        </p:nvSpPr>
        <p:spPr>
          <a:xfrm>
            <a:off x="6372000" y="2718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价值收益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输入输出链路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372000" y="2988000"/>
            <a:ext cx="4824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输入 → 输出链路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5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类异构信号（反馈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/Issue/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日志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指标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变更）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规范化案例 → 带证据引用的根因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最小补丁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+ Red→Green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独立验证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签名审批 →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10%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灰度 → 知识卡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量化收益（仿真基线，标注口径）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MTTR 3250s → 14.8s ·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误发布率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0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人工介入率：低置信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熔断时显性停机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3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89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04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七个职能 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Agent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，一条会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"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回头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"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的状态机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Intake · Impact · RCA · Patch · Verify · Release · Learn ——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直线推进之外，状态机带两条自主回边。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92" name=""/>
          <p:cNvSpPr/>
          <p:nvPr/>
        </p:nvSpPr>
        <p:spPr>
          <a:xfrm>
            <a:off x="720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93" name=""/>
          <p:cNvSpPr txBox="1"/>
          <p:nvPr/>
        </p:nvSpPr>
        <p:spPr>
          <a:xfrm>
            <a:off x="846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01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46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Intake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46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归并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106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97" name=""/>
          <p:cNvSpPr/>
          <p:nvPr/>
        </p:nvSpPr>
        <p:spPr>
          <a:xfrm>
            <a:off x="2268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98" name=""/>
          <p:cNvSpPr txBox="1"/>
          <p:nvPr/>
        </p:nvSpPr>
        <p:spPr>
          <a:xfrm>
            <a:off x="2394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02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394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Impact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394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影响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654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02" name=""/>
          <p:cNvSpPr/>
          <p:nvPr/>
        </p:nvSpPr>
        <p:spPr>
          <a:xfrm>
            <a:off x="3816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03" name=""/>
          <p:cNvSpPr txBox="1"/>
          <p:nvPr/>
        </p:nvSpPr>
        <p:spPr>
          <a:xfrm>
            <a:off x="3942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03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942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RCA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942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诊断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202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07" name=""/>
          <p:cNvSpPr/>
          <p:nvPr/>
        </p:nvSpPr>
        <p:spPr>
          <a:xfrm>
            <a:off x="5364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08" name=""/>
          <p:cNvSpPr txBox="1"/>
          <p:nvPr/>
        </p:nvSpPr>
        <p:spPr>
          <a:xfrm>
            <a:off x="5490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04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490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Patch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490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修复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750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12" name=""/>
          <p:cNvSpPr/>
          <p:nvPr/>
        </p:nvSpPr>
        <p:spPr>
          <a:xfrm>
            <a:off x="6912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13" name=""/>
          <p:cNvSpPr txBox="1"/>
          <p:nvPr/>
        </p:nvSpPr>
        <p:spPr>
          <a:xfrm>
            <a:off x="7038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05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038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Verify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038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验证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298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17" name=""/>
          <p:cNvSpPr/>
          <p:nvPr/>
        </p:nvSpPr>
        <p:spPr>
          <a:xfrm>
            <a:off x="8460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18" name=""/>
          <p:cNvSpPr txBox="1"/>
          <p:nvPr/>
        </p:nvSpPr>
        <p:spPr>
          <a:xfrm>
            <a:off x="8586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06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586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Release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586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发布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846000" y="3024000"/>
            <a:ext cx="162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60716a"/>
                </a:solidFill>
                <a:latin typeface="Noto Sans CJK SC"/>
              </a:rPr>
              <a:t>→</a:t>
            </a:r>
            <a:endParaRPr b="1" lang="en-US" sz="13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22" name=""/>
          <p:cNvSpPr/>
          <p:nvPr/>
        </p:nvSpPr>
        <p:spPr>
          <a:xfrm>
            <a:off x="10008000" y="2520000"/>
            <a:ext cx="1368000" cy="108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23" name=""/>
          <p:cNvSpPr txBox="1"/>
          <p:nvPr/>
        </p:nvSpPr>
        <p:spPr>
          <a:xfrm>
            <a:off x="10134000" y="2628000"/>
            <a:ext cx="432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e7053"/>
                </a:solidFill>
                <a:latin typeface="Courier New"/>
              </a:rPr>
              <a:t>07</a:t>
            </a:r>
            <a:endParaRPr b="1" lang="en-US" sz="8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134000" y="2880000"/>
            <a:ext cx="108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2231d"/>
                </a:solidFill>
                <a:latin typeface="Courier New"/>
              </a:rPr>
              <a:t>Learn</a:t>
            </a:r>
            <a:endParaRPr b="1" lang="en-US" sz="15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134000" y="3240000"/>
            <a:ext cx="1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沉淀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26" name=""/>
          <p:cNvSpPr/>
          <p:nvPr/>
        </p:nvSpPr>
        <p:spPr>
          <a:xfrm>
            <a:off x="720000" y="3816000"/>
            <a:ext cx="10656000" cy="90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27" name=""/>
          <p:cNvSpPr txBox="1"/>
          <p:nvPr/>
        </p:nvSpPr>
        <p:spPr>
          <a:xfrm>
            <a:off x="936000" y="4014000"/>
            <a:ext cx="936000" cy="1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主线</a:t>
            </a:r>
            <a:endParaRPr b="1" lang="en-US" sz="10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872000" y="3996000"/>
            <a:ext cx="90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2231d"/>
                </a:solidFill>
                <a:latin typeface="Courier New"/>
              </a:rPr>
              <a:t>received → triaged → diagnosed → planned → verified → approval_pending → canary → confirmed → learned</a:t>
            </a:r>
            <a:endParaRPr b="1" lang="en-US" sz="1000" spc="-1" strike="noStrike">
              <a:solidFill>
                <a:srgbClr val="12231d"/>
              </a:solidFill>
              <a:latin typeface="Courier New"/>
            </a:endParaRPr>
          </a:p>
        </p:txBody>
      </p:sp>
      <p:sp>
        <p:nvSpPr>
          <p:cNvPr id="129" name=""/>
          <p:cNvSpPr/>
          <p:nvPr/>
        </p:nvSpPr>
        <p:spPr>
          <a:xfrm>
            <a:off x="720000" y="4824000"/>
            <a:ext cx="5148000" cy="828000"/>
          </a:xfrm>
          <a:prstGeom prst="rect">
            <a:avLst/>
          </a:prstGeom>
          <a:solidFill>
            <a:srgbClr val="fffdf7"/>
          </a:solidFill>
          <a:ln w="0">
            <a:solidFill>
              <a:srgbClr val="0e7053"/>
            </a:solidFill>
          </a:ln>
        </p:spPr>
      </p:sp>
      <p:sp>
        <p:nvSpPr>
          <p:cNvPr id="130" name=""/>
          <p:cNvSpPr txBox="1"/>
          <p:nvPr/>
        </p:nvSpPr>
        <p:spPr>
          <a:xfrm>
            <a:off x="972000" y="5022000"/>
            <a:ext cx="46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e7053"/>
                </a:solidFill>
                <a:latin typeface="Noto Sans CJK SC"/>
              </a:rPr>
              <a:t>↺ </a:t>
            </a:r>
            <a:r>
              <a:rPr b="1" lang="zh-CN" sz="1100" spc="-1" strike="noStrike">
                <a:solidFill>
                  <a:srgbClr val="0e7053"/>
                </a:solidFill>
                <a:latin typeface="Noto Sans CJK SC"/>
              </a:rPr>
              <a:t>补证回边  </a:t>
            </a:r>
            <a:r>
              <a:rPr b="1" lang="en-US" sz="1100" spc="-1" strike="noStrike">
                <a:solidFill>
                  <a:srgbClr val="0e7053"/>
                </a:solidFill>
                <a:latin typeface="Noto Sans CJK SC"/>
              </a:rPr>
              <a:t>triaged ↔ evidence_gathering</a:t>
            </a:r>
            <a:endParaRPr b="1" lang="en-US" sz="11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72000" y="5292000"/>
            <a:ext cx="4608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置信度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&lt; 0.80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时自主生成补证计划，反向拉取深层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Trace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；≤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2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轮，不足则熔断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needs_human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32" name=""/>
          <p:cNvSpPr/>
          <p:nvPr/>
        </p:nvSpPr>
        <p:spPr>
          <a:xfrm>
            <a:off x="6300000" y="4824000"/>
            <a:ext cx="5148000" cy="828000"/>
          </a:xfrm>
          <a:prstGeom prst="rect">
            <a:avLst/>
          </a:prstGeom>
          <a:solidFill>
            <a:srgbClr val="fffdf7"/>
          </a:solidFill>
          <a:ln w="0">
            <a:solidFill>
              <a:srgbClr val="f06a3a"/>
            </a:solidFill>
          </a:ln>
        </p:spPr>
      </p:sp>
      <p:sp>
        <p:nvSpPr>
          <p:cNvPr id="133" name=""/>
          <p:cNvSpPr txBox="1"/>
          <p:nvPr/>
        </p:nvSpPr>
        <p:spPr>
          <a:xfrm>
            <a:off x="6552000" y="5022000"/>
            <a:ext cx="46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f06a3a"/>
                </a:solidFill>
                <a:latin typeface="Noto Sans CJK SC"/>
              </a:rPr>
              <a:t>↺ </a:t>
            </a:r>
            <a:r>
              <a:rPr b="1" lang="zh-CN" sz="1100" spc="-1" strike="noStrike">
                <a:solidFill>
                  <a:srgbClr val="f06a3a"/>
                </a:solidFill>
                <a:latin typeface="Noto Sans CJK SC"/>
              </a:rPr>
              <a:t>返工回边  </a:t>
            </a:r>
            <a:r>
              <a:rPr b="1" lang="en-US" sz="1100" spc="-1" strike="noStrike">
                <a:solidFill>
                  <a:srgbClr val="f06a3a"/>
                </a:solidFill>
                <a:latin typeface="Noto Sans CJK SC"/>
              </a:rPr>
              <a:t>planned → diagnosed</a:t>
            </a:r>
            <a:endParaRPr b="1" lang="en-US" sz="1100" spc="-1" strike="noStrike">
              <a:solidFill>
                <a:srgbClr val="f06a3a"/>
              </a:solidFill>
              <a:latin typeface="Noto Sans CJK SC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552000" y="5292000"/>
            <a:ext cx="4608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测试失败带日志回传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Patch Worker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二次生成；≤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3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次尝试，超限熔断降级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4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13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05 / 18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fffdf7"/>
                </a:solidFill>
                <a:latin typeface="Noto Sans CJK SC"/>
              </a:rPr>
              <a:t>风险边界声明：高风险操作的审批、回滚与审计</a:t>
            </a:r>
            <a:endParaRPr b="1" lang="en-US" sz="27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策略门禁由确定性代码执行，不由模型绕过。</a:t>
            </a:r>
            <a:endParaRPr b="0" lang="en-US" sz="15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141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142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143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分级与审批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L0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只读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· L1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沙箱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· L2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签名审批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+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灰度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· L3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只出方案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Manager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签发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Case/Action/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时效受限的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HMAC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回执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Release Worker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只能消费，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MCP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服务端二次验签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审批拒绝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/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超时 → 链路安全停止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回滚与审计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灰度错误率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Δ&gt;1% / p95 Δ&gt;20% /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业务退化 → 确定性回滚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司法级证据链：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incident →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信号 →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git SHA → patch →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测试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HMAC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审批 → 灰度指标 →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Episode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，链式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sha256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npm run verify-evidence-chain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独立复核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9/9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对抗案例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fail closed ·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人工与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Agent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操作统一审计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5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4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06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一个会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"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骗人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"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的支付事故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用户反馈：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"10:15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后支付页一直转圈，刷新后出现两笔订单。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"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51" name=""/>
          <p:cNvSpPr/>
          <p:nvPr/>
        </p:nvSpPr>
        <p:spPr>
          <a:xfrm>
            <a:off x="720000" y="2520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52" name=""/>
          <p:cNvSpPr txBox="1"/>
          <p:nvPr/>
        </p:nvSpPr>
        <p:spPr>
          <a:xfrm>
            <a:off x="972000" y="271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表象信号 </a:t>
            </a:r>
            <a:r>
              <a:rPr b="1" lang="en-US" sz="1200" spc="-1" strike="noStrike">
                <a:solidFill>
                  <a:srgbClr val="60716a"/>
                </a:solidFill>
                <a:latin typeface="Noto Sans CJK SC"/>
              </a:rPr>
              <a:t>· surface </a:t>
            </a:r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层</a:t>
            </a:r>
            <a:endParaRPr b="1" lang="en-US" sz="12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72000" y="2988000"/>
            <a:ext cx="457200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10:15 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网关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502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率抬升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10:15  POST /orders p95 420ms → 2.8s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10:15  IdempotencyStore timeout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日志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10:02 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一条配置变更记录尚未被注意到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54" name=""/>
          <p:cNvSpPr/>
          <p:nvPr/>
        </p:nvSpPr>
        <p:spPr>
          <a:xfrm>
            <a:off x="6120000" y="2520000"/>
            <a:ext cx="5328000" cy="3168000"/>
          </a:xfrm>
          <a:prstGeom prst="rect">
            <a:avLst/>
          </a:prstGeom>
          <a:solidFill>
            <a:srgbClr val="fbedea"/>
          </a:solidFill>
          <a:ln w="0">
            <a:solidFill>
              <a:srgbClr val="f06a3a"/>
            </a:solidFill>
          </a:ln>
        </p:spPr>
      </p:sp>
      <p:sp>
        <p:nvSpPr>
          <p:cNvPr id="155" name=""/>
          <p:cNvSpPr txBox="1"/>
          <p:nvPr/>
        </p:nvSpPr>
        <p:spPr>
          <a:xfrm>
            <a:off x="6372000" y="271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f06a3a"/>
                </a:solidFill>
                <a:latin typeface="Noto Sans CJK SC"/>
              </a:rPr>
              <a:t>表象陷阱</a:t>
            </a:r>
            <a:endParaRPr b="1" lang="en-US" sz="1200" spc="-1" strike="noStrike">
              <a:solidFill>
                <a:srgbClr val="f06a3a"/>
              </a:solidFill>
              <a:latin typeface="Noto Sans CJK SC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372000" y="2988000"/>
            <a:ext cx="482400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12231d"/>
                </a:solidFill>
                <a:latin typeface="Noto Sans CJK SC"/>
              </a:rPr>
              <a:t>表象指向</a:t>
            </a:r>
            <a:r>
              <a:rPr b="1" lang="en-US" sz="1500" spc="-1" strike="noStrike">
                <a:solidFill>
                  <a:srgbClr val="12231d"/>
                </a:solidFill>
                <a:latin typeface="Noto Sans CJK SC"/>
              </a:rPr>
              <a:t>"</a:t>
            </a:r>
            <a:r>
              <a:rPr b="1" lang="zh-CN" sz="1500" spc="-1" strike="noStrike">
                <a:solidFill>
                  <a:srgbClr val="12231d"/>
                </a:solidFill>
                <a:latin typeface="Noto Sans CJK SC"/>
              </a:rPr>
              <a:t>下游网关故障</a:t>
            </a:r>
            <a:r>
              <a:rPr b="1" lang="en-US" sz="1500" spc="-1" strike="noStrike">
                <a:solidFill>
                  <a:srgbClr val="12231d"/>
                </a:solidFill>
                <a:latin typeface="Noto Sans CJK SC"/>
              </a:rPr>
              <a:t>"——</a:t>
            </a:r>
            <a:endParaRPr b="1" lang="en-US" sz="15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500" spc="-1" strike="noStrike">
                <a:solidFill>
                  <a:srgbClr val="12231d"/>
                </a:solidFill>
                <a:latin typeface="Noto Sans CJK SC"/>
              </a:rPr>
              <a:t>如果系统只信第一层证据，</a:t>
            </a:r>
            <a:endParaRPr b="1" lang="en-US" sz="15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500" spc="-1" strike="noStrike">
                <a:solidFill>
                  <a:srgbClr val="12231d"/>
                </a:solidFill>
                <a:latin typeface="Noto Sans CJK SC"/>
              </a:rPr>
              <a:t>就会去修一个根本没坏的东西。</a:t>
            </a:r>
            <a:endParaRPr b="1" lang="en-US" sz="15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6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60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07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证据不够，自主去采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RCA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首因置信度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0.58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，低于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0.80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门禁——系统不再停止，也不再硬猜。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080000" y="2664000"/>
            <a:ext cx="32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6600" spc="-1" strike="noStrike">
                <a:solidFill>
                  <a:srgbClr val="f06a3a"/>
                </a:solidFill>
                <a:latin typeface="Courier New"/>
              </a:rPr>
              <a:t>0.58</a:t>
            </a:r>
            <a:endParaRPr b="1" lang="en-US" sz="6600" spc="-1" strike="noStrike">
              <a:solidFill>
                <a:srgbClr val="f06a3a"/>
              </a:solidFill>
              <a:latin typeface="Courier New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188000" y="388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首轮置信度 </a:t>
            </a:r>
            <a:r>
              <a:rPr b="0" lang="en-US" sz="1100" spc="-1" strike="noStrike">
                <a:solidFill>
                  <a:srgbClr val="60716a"/>
                </a:solidFill>
                <a:latin typeface="Noto Sans CJK SC"/>
              </a:rPr>
              <a:t>&lt; 0.80 </a:t>
            </a:r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门禁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608000" y="2844000"/>
            <a:ext cx="9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000" spc="-1" strike="noStrike">
                <a:solidFill>
                  <a:srgbClr val="0e7053"/>
                </a:solidFill>
                <a:latin typeface="Noto Sans CJK SC"/>
              </a:rPr>
              <a:t>→</a:t>
            </a:r>
            <a:endParaRPr b="1" lang="en-US" sz="40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688000" y="2664000"/>
            <a:ext cx="32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6600" spc="-1" strike="noStrike">
                <a:solidFill>
                  <a:srgbClr val="0e7053"/>
                </a:solidFill>
                <a:latin typeface="Courier New"/>
              </a:rPr>
              <a:t>0.91</a:t>
            </a:r>
            <a:endParaRPr b="1" lang="en-US" sz="66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796000" y="388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补证后晋级，根因确认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68" name=""/>
          <p:cNvSpPr/>
          <p:nvPr/>
        </p:nvSpPr>
        <p:spPr>
          <a:xfrm>
            <a:off x="720000" y="4464000"/>
            <a:ext cx="2520000" cy="140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69" name=""/>
          <p:cNvSpPr txBox="1"/>
          <p:nvPr/>
        </p:nvSpPr>
        <p:spPr>
          <a:xfrm>
            <a:off x="900000" y="4608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e7053"/>
                </a:solidFill>
                <a:latin typeface="Courier New"/>
              </a:rPr>
              <a:t>01</a:t>
            </a:r>
            <a:endParaRPr b="1" lang="en-US" sz="9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00000" y="4860000"/>
            <a:ext cx="2124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生成补证计划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900000" y="5184000"/>
            <a:ext cx="2124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假设 → 缺失证据清单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→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服务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/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时间窗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/TraceID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查询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72" name=""/>
          <p:cNvSpPr/>
          <p:nvPr/>
        </p:nvSpPr>
        <p:spPr>
          <a:xfrm>
            <a:off x="3456000" y="4464000"/>
            <a:ext cx="2520000" cy="140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73" name=""/>
          <p:cNvSpPr txBox="1"/>
          <p:nvPr/>
        </p:nvSpPr>
        <p:spPr>
          <a:xfrm>
            <a:off x="3636000" y="4608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e7053"/>
                </a:solidFill>
                <a:latin typeface="Courier New"/>
              </a:rPr>
              <a:t>02</a:t>
            </a:r>
            <a:endParaRPr b="1" lang="en-US" sz="9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636000" y="4860000"/>
            <a:ext cx="2124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反向拉取深层证据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636000" y="5184000"/>
            <a:ext cx="2124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配置变更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CHG-402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连接池水位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Trace-771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链路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Trace-772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76" name=""/>
          <p:cNvSpPr/>
          <p:nvPr/>
        </p:nvSpPr>
        <p:spPr>
          <a:xfrm>
            <a:off x="6192000" y="4464000"/>
            <a:ext cx="2520000" cy="140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77" name=""/>
          <p:cNvSpPr txBox="1"/>
          <p:nvPr/>
        </p:nvSpPr>
        <p:spPr>
          <a:xfrm>
            <a:off x="6372000" y="4608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e7053"/>
                </a:solidFill>
                <a:latin typeface="Courier New"/>
              </a:rPr>
              <a:t>03</a:t>
            </a:r>
            <a:endParaRPr b="1" lang="en-US" sz="9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372000" y="4860000"/>
            <a:ext cx="2124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合并重评分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372000" y="5184000"/>
            <a:ext cx="2124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0.91 ≥ 0.80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，晋级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仍不足则进入第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2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轮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80" name=""/>
          <p:cNvSpPr/>
          <p:nvPr/>
        </p:nvSpPr>
        <p:spPr>
          <a:xfrm>
            <a:off x="8928000" y="4464000"/>
            <a:ext cx="2520000" cy="140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81" name=""/>
          <p:cNvSpPr txBox="1"/>
          <p:nvPr/>
        </p:nvSpPr>
        <p:spPr>
          <a:xfrm>
            <a:off x="9108000" y="4608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e7053"/>
                </a:solidFill>
                <a:latin typeface="Courier New"/>
              </a:rPr>
              <a:t>04</a:t>
            </a:r>
            <a:endParaRPr b="1" lang="en-US" sz="9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108000" y="4860000"/>
            <a:ext cx="2124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熔断兜底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08000" y="5184000"/>
            <a:ext cx="2124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≤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2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轮仍不达标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→ </a:t>
            </a:r>
            <a:r>
              <a:rPr b="0" lang="en-US" sz="900" spc="-1" strike="noStrike">
                <a:solidFill>
                  <a:srgbClr val="60716a"/>
                </a:solidFill>
                <a:latin typeface="Noto Sans CJK SC"/>
              </a:rPr>
              <a:t>needs_human </a:t>
            </a:r>
            <a:r>
              <a:rPr b="0" lang="zh-CN" sz="900" spc="-1" strike="noStrike">
                <a:solidFill>
                  <a:srgbClr val="60716a"/>
                </a:solidFill>
                <a:latin typeface="Noto Sans CJK SC"/>
              </a:rPr>
              <a:t>人工介入</a:t>
            </a:r>
            <a:endParaRPr b="0" lang="en-US" sz="9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7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87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08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补丁失败，自己再修一次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Patch↔Verify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闭环博弈：失败日志回传，带反馈二次生成。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90" name=""/>
          <p:cNvSpPr/>
          <p:nvPr/>
        </p:nvSpPr>
        <p:spPr>
          <a:xfrm>
            <a:off x="720000" y="2664000"/>
            <a:ext cx="3384000" cy="2016000"/>
          </a:xfrm>
          <a:prstGeom prst="rect">
            <a:avLst/>
          </a:prstGeom>
          <a:solidFill>
            <a:srgbClr val="fffdf7"/>
          </a:solidFill>
          <a:ln w="0">
            <a:solidFill>
              <a:srgbClr val="f06a3a"/>
            </a:solidFill>
          </a:ln>
        </p:spPr>
      </p:sp>
      <p:sp>
        <p:nvSpPr>
          <p:cNvPr id="191" name=""/>
          <p:cNvSpPr txBox="1"/>
          <p:nvPr/>
        </p:nvSpPr>
        <p:spPr>
          <a:xfrm>
            <a:off x="936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f06a3a"/>
                </a:solidFill>
                <a:latin typeface="Noto Sans CJK SC"/>
              </a:rPr>
              <a:t>PATCH #1</a:t>
            </a:r>
            <a:endParaRPr b="1" lang="en-US" sz="1700" spc="-1" strike="noStrike">
              <a:solidFill>
                <a:srgbClr val="f06a3a"/>
              </a:solidFill>
              <a:latin typeface="Noto Sans CJK SC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36000" y="3168000"/>
            <a:ext cx="288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只恢复连接池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遗漏幂等保护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93" name=""/>
          <p:cNvSpPr/>
          <p:nvPr/>
        </p:nvSpPr>
        <p:spPr>
          <a:xfrm>
            <a:off x="936000" y="3996000"/>
            <a:ext cx="1656000" cy="288000"/>
          </a:xfrm>
          <a:prstGeom prst="rect">
            <a:avLst/>
          </a:prstGeom>
          <a:solidFill>
            <a:srgbClr val="f06a3a"/>
          </a:solidFill>
          <a:ln w="0">
            <a:solidFill>
              <a:srgbClr val="f06a3a"/>
            </a:solidFill>
          </a:ln>
        </p:spPr>
      </p:sp>
      <p:sp>
        <p:nvSpPr>
          <p:cNvPr id="194" name=""/>
          <p:cNvSpPr txBox="1"/>
          <p:nvPr/>
        </p:nvSpPr>
        <p:spPr>
          <a:xfrm>
            <a:off x="1026000" y="40788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fffdf7"/>
                </a:solidFill>
                <a:latin typeface="Courier New"/>
              </a:rPr>
              <a:t>RED · 3 </a:t>
            </a:r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项失败</a:t>
            </a:r>
            <a:endParaRPr b="1" lang="en-US" sz="1000" spc="-1" strike="noStrike">
              <a:solidFill>
                <a:srgbClr val="fffdf7"/>
              </a:solidFill>
              <a:latin typeface="Courier New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158000" y="3384000"/>
            <a:ext cx="252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e7053"/>
                </a:solidFill>
                <a:latin typeface="Noto Sans CJK SC"/>
              </a:rPr>
              <a:t>→</a:t>
            </a:r>
            <a:endParaRPr b="1" lang="en-US" sz="2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96" name=""/>
          <p:cNvSpPr/>
          <p:nvPr/>
        </p:nvSpPr>
        <p:spPr>
          <a:xfrm>
            <a:off x="4428000" y="2664000"/>
            <a:ext cx="3384000" cy="2016000"/>
          </a:xfrm>
          <a:prstGeom prst="rect">
            <a:avLst/>
          </a:prstGeom>
          <a:solidFill>
            <a:srgbClr val="fffdf7"/>
          </a:solidFill>
          <a:ln w="0">
            <a:solidFill>
              <a:srgbClr val="60716a"/>
            </a:solidFill>
          </a:ln>
        </p:spPr>
      </p:sp>
      <p:sp>
        <p:nvSpPr>
          <p:cNvPr id="197" name=""/>
          <p:cNvSpPr txBox="1"/>
          <p:nvPr/>
        </p:nvSpPr>
        <p:spPr>
          <a:xfrm>
            <a:off x="4644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2231d"/>
                </a:solidFill>
                <a:latin typeface="Noto Sans CJK SC"/>
              </a:rPr>
              <a:t>分析失败日志</a:t>
            </a:r>
            <a:endParaRPr b="1" lang="en-US" sz="1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644000" y="3168000"/>
            <a:ext cx="288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失败输出回传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en-US" sz="1100" spc="-1" strike="noStrike">
                <a:solidFill>
                  <a:srgbClr val="60716a"/>
                </a:solidFill>
                <a:latin typeface="Noto Sans CJK SC"/>
              </a:rPr>
              <a:t>Patch Worker </a:t>
            </a:r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读日志定位遗漏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99" name=""/>
          <p:cNvSpPr/>
          <p:nvPr/>
        </p:nvSpPr>
        <p:spPr>
          <a:xfrm>
            <a:off x="4644000" y="3996000"/>
            <a:ext cx="1656000" cy="288000"/>
          </a:xfrm>
          <a:prstGeom prst="rect">
            <a:avLst/>
          </a:prstGeom>
          <a:solidFill>
            <a:srgbClr val="60716a"/>
          </a:solidFill>
          <a:ln w="0">
            <a:solidFill>
              <a:srgbClr val="60716a"/>
            </a:solidFill>
          </a:ln>
        </p:spPr>
      </p:sp>
      <p:sp>
        <p:nvSpPr>
          <p:cNvPr id="200" name=""/>
          <p:cNvSpPr txBox="1"/>
          <p:nvPr/>
        </p:nvSpPr>
        <p:spPr>
          <a:xfrm>
            <a:off x="4734000" y="40788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带反馈二次生成</a:t>
            </a:r>
            <a:endParaRPr b="1" lang="en-US" sz="1000" spc="-1" strike="noStrike">
              <a:solidFill>
                <a:srgbClr val="fffdf7"/>
              </a:solidFill>
              <a:latin typeface="Courier New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866000" y="3384000"/>
            <a:ext cx="252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e7053"/>
                </a:solidFill>
                <a:latin typeface="Noto Sans CJK SC"/>
              </a:rPr>
              <a:t>→</a:t>
            </a:r>
            <a:endParaRPr b="1" lang="en-US" sz="2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02" name=""/>
          <p:cNvSpPr/>
          <p:nvPr/>
        </p:nvSpPr>
        <p:spPr>
          <a:xfrm>
            <a:off x="8136000" y="2664000"/>
            <a:ext cx="3384000" cy="2016000"/>
          </a:xfrm>
          <a:prstGeom prst="rect">
            <a:avLst/>
          </a:prstGeom>
          <a:solidFill>
            <a:srgbClr val="fffdf7"/>
          </a:solidFill>
          <a:ln w="0">
            <a:solidFill>
              <a:srgbClr val="0e7053"/>
            </a:solidFill>
          </a:ln>
        </p:spPr>
      </p:sp>
      <p:sp>
        <p:nvSpPr>
          <p:cNvPr id="203" name=""/>
          <p:cNvSpPr txBox="1"/>
          <p:nvPr/>
        </p:nvSpPr>
        <p:spPr>
          <a:xfrm>
            <a:off x="8352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PATCH #2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352000" y="3168000"/>
            <a:ext cx="288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补全幂等逻辑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  <a:p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重复请求返回 </a:t>
            </a:r>
            <a:r>
              <a:rPr b="0" lang="en-US" sz="1100" spc="-1" strike="noStrike">
                <a:solidFill>
                  <a:srgbClr val="60716a"/>
                </a:solidFill>
                <a:latin typeface="Noto Sans CJK SC"/>
              </a:rPr>
              <a:t>409+</a:t>
            </a:r>
            <a:r>
              <a:rPr b="0" lang="zh-CN" sz="1100" spc="-1" strike="noStrike">
                <a:solidFill>
                  <a:srgbClr val="60716a"/>
                </a:solidFill>
                <a:latin typeface="Noto Sans CJK SC"/>
              </a:rPr>
              <a:t>原订单</a:t>
            </a:r>
            <a:endParaRPr b="0" lang="en-US" sz="11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05" name=""/>
          <p:cNvSpPr/>
          <p:nvPr/>
        </p:nvSpPr>
        <p:spPr>
          <a:xfrm>
            <a:off x="8352000" y="3996000"/>
            <a:ext cx="1656000" cy="288000"/>
          </a:xfrm>
          <a:prstGeom prst="rect">
            <a:avLst/>
          </a:prstGeom>
          <a:solidFill>
            <a:srgbClr val="0e7053"/>
          </a:solidFill>
          <a:ln w="0">
            <a:solidFill>
              <a:srgbClr val="0e7053"/>
            </a:solidFill>
          </a:ln>
        </p:spPr>
      </p:sp>
      <p:sp>
        <p:nvSpPr>
          <p:cNvPr id="206" name=""/>
          <p:cNvSpPr txBox="1"/>
          <p:nvPr/>
        </p:nvSpPr>
        <p:spPr>
          <a:xfrm>
            <a:off x="8442000" y="40788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fffdf7"/>
                </a:solidFill>
                <a:latin typeface="Courier New"/>
              </a:rPr>
              <a:t>GREEN · 4/4 </a:t>
            </a:r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通过</a:t>
            </a:r>
            <a:endParaRPr b="1" lang="en-US" sz="1000" spc="-1" strike="noStrike">
              <a:solidFill>
                <a:srgbClr val="fffdf7"/>
              </a:solidFill>
              <a:latin typeface="Courier New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38000" y="5040000"/>
            <a:ext cx="104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400" spc="-1" strike="noStrike">
                <a:solidFill>
                  <a:srgbClr val="0e7053"/>
                </a:solidFill>
                <a:latin typeface="Noto Sans CJK SC"/>
              </a:rPr>
              <a:t>最大 </a:t>
            </a:r>
            <a:r>
              <a:rPr b="1" lang="en-US" sz="1400" spc="-1" strike="noStrike">
                <a:solidFill>
                  <a:srgbClr val="0e7053"/>
                </a:solidFill>
                <a:latin typeface="Noto Sans CJK SC"/>
              </a:rPr>
              <a:t>3 </a:t>
            </a:r>
            <a:r>
              <a:rPr b="1" lang="zh-CN" sz="1400" spc="-1" strike="noStrike">
                <a:solidFill>
                  <a:srgbClr val="0e7053"/>
                </a:solidFill>
                <a:latin typeface="Noto Sans CJK SC"/>
              </a:rPr>
              <a:t>次尝试，超限熔断降级 </a:t>
            </a:r>
            <a:r>
              <a:rPr b="1" lang="en-US" sz="1400" spc="-1" strike="noStrike">
                <a:solidFill>
                  <a:srgbClr val="0e7053"/>
                </a:solidFill>
                <a:latin typeface="Noto Sans CJK SC"/>
              </a:rPr>
              <a:t>needs_human · </a:t>
            </a:r>
            <a:r>
              <a:rPr b="1" lang="zh-CN" sz="1400" spc="-1" strike="noStrike">
                <a:solidFill>
                  <a:srgbClr val="0e7053"/>
                </a:solidFill>
                <a:latin typeface="Noto Sans CJK SC"/>
              </a:rPr>
              <a:t>失败样本同样进入证据链，不掩盖</a:t>
            </a:r>
            <a:endParaRPr b="1" lang="en-US" sz="14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8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21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09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数据库事故：隔离分支上并行验证假设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涉及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Schema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变更与慢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SQL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的缺陷，从脱敏基线一键拉出多个隔离数据分支。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14" name=""/>
          <p:cNvSpPr/>
          <p:nvPr/>
        </p:nvSpPr>
        <p:spPr>
          <a:xfrm>
            <a:off x="720000" y="2628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0e7053"/>
            </a:solidFill>
          </a:ln>
        </p:spPr>
      </p:sp>
      <p:sp>
        <p:nvSpPr>
          <p:cNvPr id="215" name=""/>
          <p:cNvSpPr txBox="1"/>
          <p:nvPr/>
        </p:nvSpPr>
        <p:spPr>
          <a:xfrm>
            <a:off x="972000" y="2808000"/>
            <a:ext cx="324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e7053"/>
                </a:solidFill>
                <a:latin typeface="Noto Sans CJK SC"/>
              </a:rPr>
              <a:t>BRANCH-A · </a:t>
            </a:r>
            <a:r>
              <a:rPr b="1" lang="zh-CN" sz="1500" spc="-1" strike="noStrike">
                <a:solidFill>
                  <a:srgbClr val="0e7053"/>
                </a:solidFill>
                <a:latin typeface="Noto Sans CJK SC"/>
              </a:rPr>
              <a:t>索引优化方案</a:t>
            </a:r>
            <a:endParaRPr b="1" lang="en-US" sz="15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972000" y="3132000"/>
            <a:ext cx="4572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重放事故流量：报错消失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外键约束完好 </a:t>
            </a:r>
            <a:r>
              <a:rPr b="0" lang="en-US" sz="1200" spc="-1" strike="noStrike">
                <a:solidFill>
                  <a:srgbClr val="12231d"/>
                </a:solidFill>
                <a:latin typeface="Noto Sans CJK SC"/>
              </a:rPr>
              <a:t>· </a:t>
            </a:r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无锁等待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事务耗时正常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17" name=""/>
          <p:cNvSpPr/>
          <p:nvPr/>
        </p:nvSpPr>
        <p:spPr>
          <a:xfrm>
            <a:off x="972000" y="4248000"/>
            <a:ext cx="1800000" cy="288000"/>
          </a:xfrm>
          <a:prstGeom prst="rect">
            <a:avLst/>
          </a:prstGeom>
          <a:solidFill>
            <a:srgbClr val="0e7053"/>
          </a:solidFill>
          <a:ln w="0">
            <a:solidFill>
              <a:srgbClr val="0e7053"/>
            </a:solidFill>
          </a:ln>
        </p:spPr>
      </p:sp>
      <p:sp>
        <p:nvSpPr>
          <p:cNvPr id="218" name=""/>
          <p:cNvSpPr txBox="1"/>
          <p:nvPr/>
        </p:nvSpPr>
        <p:spPr>
          <a:xfrm>
            <a:off x="1062000" y="43308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择优合并 → </a:t>
            </a:r>
            <a:r>
              <a:rPr b="1" lang="en-US" sz="1000" spc="-1" strike="noStrike">
                <a:solidFill>
                  <a:srgbClr val="fffdf7"/>
                </a:solidFill>
                <a:latin typeface="Courier New"/>
              </a:rPr>
              <a:t>L2 </a:t>
            </a:r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审批</a:t>
            </a:r>
            <a:endParaRPr b="1" lang="en-US" sz="1000" spc="-1" strike="noStrike">
              <a:solidFill>
                <a:srgbClr val="fffdf7"/>
              </a:solidFill>
              <a:latin typeface="Courier New"/>
            </a:endParaRPr>
          </a:p>
        </p:txBody>
      </p:sp>
      <p:sp>
        <p:nvSpPr>
          <p:cNvPr id="219" name=""/>
          <p:cNvSpPr/>
          <p:nvPr/>
        </p:nvSpPr>
        <p:spPr>
          <a:xfrm>
            <a:off x="6300000" y="2628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f06a3a"/>
            </a:solidFill>
          </a:ln>
        </p:spPr>
      </p:sp>
      <p:sp>
        <p:nvSpPr>
          <p:cNvPr id="220" name=""/>
          <p:cNvSpPr txBox="1"/>
          <p:nvPr/>
        </p:nvSpPr>
        <p:spPr>
          <a:xfrm>
            <a:off x="6552000" y="2808000"/>
            <a:ext cx="324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f06a3a"/>
                </a:solidFill>
                <a:latin typeface="Noto Sans CJK SC"/>
              </a:rPr>
              <a:t>BRANCH-B · </a:t>
            </a:r>
            <a:r>
              <a:rPr b="1" lang="zh-CN" sz="1500" spc="-1" strike="noStrike">
                <a:solidFill>
                  <a:srgbClr val="f06a3a"/>
                </a:solidFill>
                <a:latin typeface="Noto Sans CJK SC"/>
              </a:rPr>
              <a:t>分页改写方案</a:t>
            </a:r>
            <a:endParaRPr b="1" lang="en-US" sz="1500" spc="-1" strike="noStrike">
              <a:solidFill>
                <a:srgbClr val="f06a3a"/>
              </a:solidFill>
              <a:latin typeface="Noto Sans CJK SC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552000" y="3132000"/>
            <a:ext cx="4572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重放事故流量：报错消失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但并发锁等待超限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事务耗时劣化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22" name=""/>
          <p:cNvSpPr/>
          <p:nvPr/>
        </p:nvSpPr>
        <p:spPr>
          <a:xfrm>
            <a:off x="6552000" y="4248000"/>
            <a:ext cx="1800000" cy="288000"/>
          </a:xfrm>
          <a:prstGeom prst="rect">
            <a:avLst/>
          </a:prstGeom>
          <a:solidFill>
            <a:srgbClr val="f06a3a"/>
          </a:solidFill>
          <a:ln w="0">
            <a:solidFill>
              <a:srgbClr val="f06a3a"/>
            </a:solidFill>
          </a:ln>
        </p:spPr>
      </p:sp>
      <p:sp>
        <p:nvSpPr>
          <p:cNvPr id="223" name=""/>
          <p:cNvSpPr txBox="1"/>
          <p:nvPr/>
        </p:nvSpPr>
        <p:spPr>
          <a:xfrm>
            <a:off x="6642000" y="43308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自动淘汰 </a:t>
            </a:r>
            <a:r>
              <a:rPr b="1" lang="en-US" sz="1000" spc="-1" strike="noStrike">
                <a:solidFill>
                  <a:srgbClr val="fffdf7"/>
                </a:solidFill>
                <a:latin typeface="Courier New"/>
              </a:rPr>
              <a:t>· </a:t>
            </a:r>
            <a:r>
              <a:rPr b="1" lang="zh-CN" sz="1000" spc="-1" strike="noStrike">
                <a:solidFill>
                  <a:srgbClr val="fffdf7"/>
                </a:solidFill>
                <a:latin typeface="Courier New"/>
              </a:rPr>
              <a:t>零污染销毁</a:t>
            </a:r>
            <a:endParaRPr b="1" lang="en-US" sz="1000" spc="-1" strike="noStrike">
              <a:solidFill>
                <a:srgbClr val="fffdf7"/>
              </a:solidFill>
              <a:latin typeface="Courier New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38000" y="5148000"/>
            <a:ext cx="10620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60716a"/>
                </a:solidFill>
                <a:latin typeface="Noto Sans CJK SC"/>
              </a:rPr>
              <a:t>同一脱敏基线并行比对，失败试验不相互污染，</a:t>
            </a:r>
            <a:r>
              <a:rPr b="0" lang="en-US" sz="1200" spc="-1" strike="noStrike">
                <a:solidFill>
                  <a:srgbClr val="60716a"/>
                </a:solidFill>
                <a:latin typeface="Noto Sans CJK SC"/>
              </a:rPr>
              <a:t>Branch </a:t>
            </a:r>
            <a:r>
              <a:rPr b="0" lang="zh-CN" sz="1200" spc="-1" strike="noStrike">
                <a:solidFill>
                  <a:srgbClr val="60716a"/>
                </a:solidFill>
                <a:latin typeface="Noto Sans CJK SC"/>
              </a:rPr>
              <a:t>数据不进入生产；本地 </a:t>
            </a:r>
            <a:r>
              <a:rPr b="0" lang="en-US" sz="1200" spc="-1" strike="noStrike">
                <a:solidFill>
                  <a:srgbClr val="60716a"/>
                </a:solidFill>
                <a:latin typeface="Noto Sans CJK SC"/>
              </a:rPr>
              <a:t>PostgreSQL </a:t>
            </a:r>
            <a:r>
              <a:rPr b="0" lang="zh-CN" sz="1200" spc="-1" strike="noStrike">
                <a:solidFill>
                  <a:srgbClr val="60716a"/>
                </a:solidFill>
                <a:latin typeface="Noto Sans CJK SC"/>
              </a:rPr>
              <a:t>等价语义验证，生产路径为 </a:t>
            </a:r>
            <a:r>
              <a:rPr b="0" lang="en-US" sz="1200" spc="-1" strike="noStrike">
                <a:solidFill>
                  <a:srgbClr val="60716a"/>
                </a:solidFill>
                <a:latin typeface="Noto Sans CJK SC"/>
              </a:rPr>
              <a:t>PolarDB Agentic Database Branch</a:t>
            </a:r>
            <a:r>
              <a:rPr b="0" lang="zh-CN" sz="1200" spc="-1" strike="noStrike">
                <a:solidFill>
                  <a:srgbClr val="60716a"/>
                </a:solidFill>
                <a:latin typeface="Noto Sans CJK SC"/>
              </a:rPr>
              <a:t>。</a:t>
            </a:r>
            <a:endParaRPr b="0" lang="en-US" sz="12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9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22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10 / 18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fffdf7"/>
                </a:solidFill>
                <a:latin typeface="Noto Sans CJK SC"/>
              </a:rPr>
              <a:t>系统记得</a:t>
            </a:r>
            <a:r>
              <a:rPr b="1" lang="en-US" sz="2700" spc="-1" strike="noStrike">
                <a:solidFill>
                  <a:srgbClr val="fffdf7"/>
                </a:solidFill>
                <a:latin typeface="Noto Sans CJK SC"/>
              </a:rPr>
              <a:t>"</a:t>
            </a:r>
            <a:r>
              <a:rPr b="1" lang="zh-CN" sz="2700" spc="-1" strike="noStrike">
                <a:solidFill>
                  <a:srgbClr val="fffdf7"/>
                </a:solidFill>
                <a:latin typeface="Noto Sans CJK SC"/>
              </a:rPr>
              <a:t>什么不能做</a:t>
            </a:r>
            <a:r>
              <a:rPr b="1" lang="en-US" sz="2700" spc="-1" strike="noStrike">
                <a:solidFill>
                  <a:srgbClr val="fffdf7"/>
                </a:solidFill>
                <a:latin typeface="Noto Sans CJK SC"/>
              </a:rPr>
              <a:t>"</a:t>
            </a:r>
            <a:endParaRPr b="1" lang="en-US" sz="27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Incident Episode 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不只召回成功方案，还召回历史失败修法。</a:t>
            </a:r>
            <a:endParaRPr b="0" lang="en-US" sz="15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31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232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233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负面证据注入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EP-005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：曾将连接池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80 → 200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试图缓解超时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结果下游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Redis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集群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OOM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，级联崩溃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本次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RCA 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报告自动生成警示：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"</a:t>
            </a:r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调大连接池方案已自动规避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"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Episode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结构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表象症状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服务拓扑依赖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竞争假设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根因证据链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正反补丁 </a:t>
            </a:r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回滚指标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检索先硬过滤：租户→服务→环境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ccef73"/>
                </a:solidFill>
                <a:latin typeface="Noto Sans CJK SC"/>
              </a:rPr>
              <a:t>git revision → </a:t>
            </a:r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配置版本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ccef73"/>
                </a:solidFill>
                <a:latin typeface="Noto Sans CJK SC"/>
              </a:rPr>
              <a:t>杜绝不同版本相同报错的误召回</a:t>
            </a:r>
            <a:endParaRPr b="1" lang="en-US" sz="13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10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23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11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上线之后仍在被验证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10%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灰度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+ SLO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违约检测，退化即确定性回滚。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41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242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243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灰度门禁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错误率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Δ&gt;1% / p95 Δ&gt;20% /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业务指标退化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自动回滚，不等待模型再次判断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观察窗口与知识准入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修复后不立刻入库：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15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分钟指标观察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+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业务断言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+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复盘确认通过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→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Episode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才从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pending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转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active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进入默认召回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回滚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复发 → 转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negative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立即可召回作警示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24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12 / 18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公开基准：从 </a:t>
            </a:r>
            <a:r>
              <a:rPr b="1" lang="en-US" sz="3000" spc="-1" strike="noStrike">
                <a:solidFill>
                  <a:srgbClr val="fffdf7"/>
                </a:solidFill>
                <a:latin typeface="Noto Sans CJK SC"/>
              </a:rPr>
              <a:t>0% </a:t>
            </a:r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到可验证闭环</a:t>
            </a:r>
            <a:endParaRPr b="1" lang="en-US" sz="3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同冻结 </a:t>
            </a:r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30 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案例 </a:t>
            </a:r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SWE-bench dev test split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，</a:t>
            </a:r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edit-based 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补丁引擎 </a:t>
            </a:r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+ 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三维消融。</a:t>
            </a:r>
            <a:endParaRPr b="0" lang="en-US" sz="15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80000" y="2664000"/>
            <a:ext cx="396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6600" spc="-1" strike="noStrike">
                <a:solidFill>
                  <a:srgbClr val="ccef73"/>
                </a:solidFill>
                <a:latin typeface="Courier New"/>
              </a:rPr>
              <a:t>10%</a:t>
            </a:r>
            <a:endParaRPr b="1" lang="en-US" sz="66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88000" y="388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c9c2"/>
                </a:solidFill>
                <a:latin typeface="Noto Sans CJK SC"/>
              </a:rPr>
              <a:t>DevOrbit </a:t>
            </a:r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闭环率（</a:t>
            </a:r>
            <a:r>
              <a:rPr b="0" lang="en-US" sz="1100" spc="-1" strike="noStrike">
                <a:solidFill>
                  <a:srgbClr val="b8c9c2"/>
                </a:solidFill>
                <a:latin typeface="Noto Sans CJK SC"/>
              </a:rPr>
              <a:t>3/30</a:t>
            </a:r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）</a:t>
            </a:r>
            <a:endParaRPr b="0" lang="en-US" sz="11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608000" y="2988000"/>
            <a:ext cx="90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b8c9c2"/>
                </a:solidFill>
                <a:latin typeface="Noto Sans CJK SC"/>
              </a:rPr>
              <a:t>vs</a:t>
            </a:r>
            <a:endParaRPr b="1" lang="en-US" sz="26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408000" y="2664000"/>
            <a:ext cx="396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6600" spc="-1" strike="noStrike">
                <a:solidFill>
                  <a:srgbClr val="8fa8a0"/>
                </a:solidFill>
                <a:latin typeface="Courier New"/>
              </a:rPr>
              <a:t>0%</a:t>
            </a:r>
            <a:endParaRPr b="1" lang="en-US" sz="6600" spc="-1" strike="noStrike">
              <a:solidFill>
                <a:srgbClr val="8fa8a0"/>
              </a:solidFill>
              <a:latin typeface="Courier New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516000" y="3888000"/>
            <a:ext cx="28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单 </a:t>
            </a:r>
            <a:r>
              <a:rPr b="0" lang="en-US" sz="1100" spc="-1" strike="noStrike">
                <a:solidFill>
                  <a:srgbClr val="b8c9c2"/>
                </a:solidFill>
                <a:latin typeface="Noto Sans CJK SC"/>
              </a:rPr>
              <a:t>Agent · </a:t>
            </a:r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同模型同预算（</a:t>
            </a:r>
            <a:r>
              <a:rPr b="0" lang="en-US" sz="1100" spc="-1" strike="noStrike">
                <a:solidFill>
                  <a:srgbClr val="b8c9c2"/>
                </a:solidFill>
                <a:latin typeface="Noto Sans CJK SC"/>
              </a:rPr>
              <a:t>0/30</a:t>
            </a:r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）</a:t>
            </a:r>
            <a:endParaRPr b="0" lang="en-US" sz="11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56" name=""/>
          <p:cNvSpPr/>
          <p:nvPr/>
        </p:nvSpPr>
        <p:spPr>
          <a:xfrm>
            <a:off x="720000" y="4536000"/>
            <a:ext cx="3348000" cy="12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257" name=""/>
          <p:cNvSpPr txBox="1"/>
          <p:nvPr/>
        </p:nvSpPr>
        <p:spPr>
          <a:xfrm>
            <a:off x="936000" y="4734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ccef73"/>
                </a:solidFill>
                <a:latin typeface="Courier New"/>
              </a:rPr>
              <a:t>3250s → 14.8s</a:t>
            </a:r>
            <a:endParaRPr b="1" lang="en-US" sz="24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36000" y="5202000"/>
            <a:ext cx="295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b8c9c2"/>
                </a:solidFill>
                <a:latin typeface="Noto Sans CJK SC"/>
              </a:rPr>
              <a:t>MTTR</a:t>
            </a:r>
            <a:r>
              <a:rPr b="0" lang="zh-CN" sz="1000" spc="-1" strike="noStrike">
                <a:solidFill>
                  <a:srgbClr val="b8c9c2"/>
                </a:solidFill>
                <a:latin typeface="Noto Sans CJK SC"/>
              </a:rPr>
              <a:t>（</a:t>
            </a:r>
            <a:r>
              <a:rPr b="0" lang="en-US" sz="1000" spc="-1" strike="noStrike">
                <a:solidFill>
                  <a:srgbClr val="b8c9c2"/>
                </a:solidFill>
                <a:latin typeface="Noto Sans CJK SC"/>
              </a:rPr>
              <a:t>3 </a:t>
            </a:r>
            <a:r>
              <a:rPr b="0" lang="zh-CN" sz="1000" spc="-1" strike="noStrike">
                <a:solidFill>
                  <a:srgbClr val="b8c9c2"/>
                </a:solidFill>
                <a:latin typeface="Noto Sans CJK SC"/>
              </a:rPr>
              <a:t>例仿真计时基线，标注区间）</a:t>
            </a:r>
            <a:endParaRPr b="0" lang="en-US" sz="10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59" name=""/>
          <p:cNvSpPr/>
          <p:nvPr/>
        </p:nvSpPr>
        <p:spPr>
          <a:xfrm>
            <a:off x="4356000" y="4536000"/>
            <a:ext cx="3348000" cy="12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260" name=""/>
          <p:cNvSpPr txBox="1"/>
          <p:nvPr/>
        </p:nvSpPr>
        <p:spPr>
          <a:xfrm>
            <a:off x="4572000" y="4734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ccef73"/>
                </a:solidFill>
                <a:latin typeface="Courier New"/>
              </a:rPr>
              <a:t>0</a:t>
            </a:r>
            <a:endParaRPr b="1" lang="en-US" sz="24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572000" y="5202000"/>
            <a:ext cx="295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000" spc="-1" strike="noStrike">
                <a:solidFill>
                  <a:srgbClr val="b8c9c2"/>
                </a:solidFill>
                <a:latin typeface="Noto Sans CJK SC"/>
              </a:rPr>
              <a:t>误发布率 </a:t>
            </a:r>
            <a:r>
              <a:rPr b="0" lang="en-US" sz="1000" spc="-1" strike="noStrike">
                <a:solidFill>
                  <a:srgbClr val="b8c9c2"/>
                </a:solidFill>
                <a:latin typeface="Noto Sans CJK SC"/>
              </a:rPr>
              <a:t>· fail-closed </a:t>
            </a:r>
            <a:r>
              <a:rPr b="0" lang="zh-CN" sz="1000" spc="-1" strike="noStrike">
                <a:solidFill>
                  <a:srgbClr val="b8c9c2"/>
                </a:solidFill>
                <a:latin typeface="Noto Sans CJK SC"/>
              </a:rPr>
              <a:t>门禁</a:t>
            </a:r>
            <a:endParaRPr b="0" lang="en-US" sz="10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62" name=""/>
          <p:cNvSpPr/>
          <p:nvPr/>
        </p:nvSpPr>
        <p:spPr>
          <a:xfrm>
            <a:off x="7992000" y="4536000"/>
            <a:ext cx="3348000" cy="122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263" name=""/>
          <p:cNvSpPr txBox="1"/>
          <p:nvPr/>
        </p:nvSpPr>
        <p:spPr>
          <a:xfrm>
            <a:off x="8208000" y="4734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ccef73"/>
                </a:solidFill>
                <a:latin typeface="Courier New"/>
              </a:rPr>
              <a:t>9/9</a:t>
            </a:r>
            <a:endParaRPr b="1" lang="en-US" sz="24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8208000" y="5202000"/>
            <a:ext cx="295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000" spc="-1" strike="noStrike">
                <a:solidFill>
                  <a:srgbClr val="b8c9c2"/>
                </a:solidFill>
                <a:latin typeface="Noto Sans CJK SC"/>
              </a:rPr>
              <a:t>对抗安全案例全部阻断</a:t>
            </a:r>
            <a:endParaRPr b="0" lang="en-US" sz="10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12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26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13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把每次事故变成企业级诊断资产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从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"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本地词法匹配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"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到结构化 </a:t>
            </a:r>
            <a:r>
              <a:rPr b="0" lang="en-US" sz="1500" spc="-1" strike="noStrike">
                <a:solidFill>
                  <a:srgbClr val="60716a"/>
                </a:solidFill>
                <a:latin typeface="Noto Sans CJK SC"/>
              </a:rPr>
              <a:t>Incident Episode </a:t>
            </a:r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知识图谱。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71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272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273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结构化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Episode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症状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拓扑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竞争假设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证据链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正反补丁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观察窗口 </a:t>
            </a:r>
            <a:r>
              <a:rPr b="1" lang="en-US" sz="13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最终业务结果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12231d"/>
                </a:solidFill>
                <a:latin typeface="Noto Sans CJK SC"/>
              </a:rPr>
              <a:t>跨班次、跨服务可检索复用</a:t>
            </a:r>
            <a:endParaRPr b="1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准入生命周期</a:t>
            </a:r>
            <a:endParaRPr b="1" lang="en-US" sz="13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写入即 </a:t>
            </a:r>
            <a:r>
              <a:rPr b="1" lang="en-US" sz="1300" spc="-1" strike="noStrike">
                <a:solidFill>
                  <a:srgbClr val="0e7053"/>
                </a:solidFill>
                <a:latin typeface="Noto Sans CJK SC"/>
              </a:rPr>
              <a:t>pending</a:t>
            </a:r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（不进默认召回）</a:t>
            </a:r>
            <a:endParaRPr b="1" lang="en-US" sz="13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观察窗口 </a:t>
            </a:r>
            <a:r>
              <a:rPr b="1" lang="en-US" sz="1300" spc="-1" strike="noStrike">
                <a:solidFill>
                  <a:srgbClr val="0e7053"/>
                </a:solidFill>
                <a:latin typeface="Noto Sans CJK SC"/>
              </a:rPr>
              <a:t>+ </a:t>
            </a:r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复盘通过 → </a:t>
            </a:r>
            <a:r>
              <a:rPr b="1" lang="en-US" sz="1300" spc="-1" strike="noStrike">
                <a:solidFill>
                  <a:srgbClr val="0e7053"/>
                </a:solidFill>
                <a:latin typeface="Noto Sans CJK SC"/>
              </a:rPr>
              <a:t>active</a:t>
            </a:r>
            <a:endParaRPr b="1" lang="en-US" sz="13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复发</a:t>
            </a:r>
            <a:r>
              <a:rPr b="1" lang="en-US" sz="13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回滚 → </a:t>
            </a:r>
            <a:r>
              <a:rPr b="1" lang="en-US" sz="1300" spc="-1" strike="noStrike">
                <a:solidFill>
                  <a:srgbClr val="0e7053"/>
                </a:solidFill>
                <a:latin typeface="Noto Sans CJK SC"/>
              </a:rPr>
              <a:t>negative</a:t>
            </a:r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（立即警示）</a:t>
            </a:r>
            <a:endParaRPr b="1" lang="en-US" sz="13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300" spc="-1" strike="noStrike">
                <a:solidFill>
                  <a:srgbClr val="0e7053"/>
                </a:solidFill>
                <a:latin typeface="Noto Sans CJK SC"/>
              </a:rPr>
              <a:t>接手人不再重梳全部日志</a:t>
            </a:r>
            <a:endParaRPr b="1" lang="en-US" sz="13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13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27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14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每一项能力，都有可复核的证据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所有数字可通过仓库内命令独立重放。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81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282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283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113/113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单元测试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· 63/63 validate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校验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7/7 Golden Cases · 5/5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安全分支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9/9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对抗安全案例（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Hash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篡改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/DB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隔离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恶意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Migration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）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18/18 AgentTeams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运行时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· 141/141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契约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14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个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MCP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工具全审计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· Skill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版本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+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摘要溯源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重启恢复：崩溃后审批续跑同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case/trace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闭环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场景迁移：结算→库存 机制序列完全一致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可靠性故障演练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6/6 · GitLab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真实自愈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e2e 17/17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Docker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灰度回滚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8/8 · 3/30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公开基准闭环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14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288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15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为什么不是单 </a:t>
            </a:r>
            <a:r>
              <a:rPr b="1" lang="en-US" sz="2700" spc="-1" strike="noStrike">
                <a:solidFill>
                  <a:srgbClr val="12231d"/>
                </a:solidFill>
                <a:latin typeface="Noto Sans CJK SC"/>
              </a:rPr>
              <a:t>Agent</a:t>
            </a:r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，也不是固定工作流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复杂研发任务需要职责隔离、独立验证和动态停止条件。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291" name=""/>
          <p:cNvSpPr/>
          <p:nvPr/>
        </p:nvSpPr>
        <p:spPr>
          <a:xfrm>
            <a:off x="720000" y="2664000"/>
            <a:ext cx="3348000" cy="2016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292" name=""/>
          <p:cNvSpPr txBox="1"/>
          <p:nvPr/>
        </p:nvSpPr>
        <p:spPr>
          <a:xfrm>
            <a:off x="936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800" spc="-1" strike="noStrike">
                <a:solidFill>
                  <a:srgbClr val="0e7053"/>
                </a:solidFill>
                <a:latin typeface="Noto Sans CJK SC"/>
              </a:rPr>
              <a:t>单 </a:t>
            </a:r>
            <a:r>
              <a:rPr b="1" lang="en-US" sz="1800" spc="-1" strike="noStrike">
                <a:solidFill>
                  <a:srgbClr val="0e7053"/>
                </a:solidFill>
                <a:latin typeface="Noto Sans CJK SC"/>
              </a:rPr>
              <a:t>Agent</a:t>
            </a:r>
            <a:endParaRPr b="1" lang="en-US" sz="18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36000" y="3240000"/>
            <a:ext cx="2880000" cy="12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上下文集中、权限过宽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生成与验证同源偏差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94" name=""/>
          <p:cNvSpPr/>
          <p:nvPr/>
        </p:nvSpPr>
        <p:spPr>
          <a:xfrm>
            <a:off x="4356000" y="2664000"/>
            <a:ext cx="3348000" cy="2016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295" name=""/>
          <p:cNvSpPr txBox="1"/>
          <p:nvPr/>
        </p:nvSpPr>
        <p:spPr>
          <a:xfrm>
            <a:off x="4572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800" spc="-1" strike="noStrike">
                <a:solidFill>
                  <a:srgbClr val="0e7053"/>
                </a:solidFill>
                <a:latin typeface="Noto Sans CJK SC"/>
              </a:rPr>
              <a:t>固定工作流</a:t>
            </a:r>
            <a:endParaRPr b="1" lang="en-US" sz="18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4572000" y="3240000"/>
            <a:ext cx="2880000" cy="12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可控但难处理证据冲突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12231d"/>
                </a:solidFill>
                <a:latin typeface="Noto Sans CJK SC"/>
              </a:rPr>
              <a:t>低置信只能停机等待</a:t>
            </a:r>
            <a:endParaRPr b="0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297" name=""/>
          <p:cNvSpPr/>
          <p:nvPr/>
        </p:nvSpPr>
        <p:spPr>
          <a:xfrm>
            <a:off x="7992000" y="2664000"/>
            <a:ext cx="3348000" cy="2016000"/>
          </a:xfrm>
          <a:prstGeom prst="rect">
            <a:avLst/>
          </a:prstGeom>
          <a:solidFill>
            <a:srgbClr val="0e7053"/>
          </a:solidFill>
          <a:ln w="0">
            <a:solidFill>
              <a:srgbClr val="d6d9cf"/>
            </a:solidFill>
          </a:ln>
        </p:spPr>
      </p:sp>
      <p:sp>
        <p:nvSpPr>
          <p:cNvPr id="298" name=""/>
          <p:cNvSpPr txBox="1"/>
          <p:nvPr/>
        </p:nvSpPr>
        <p:spPr>
          <a:xfrm>
            <a:off x="8208000" y="2844000"/>
            <a:ext cx="288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ccef73"/>
                </a:solidFill>
                <a:latin typeface="Noto Sans CJK SC"/>
              </a:rPr>
              <a:t>DevOrbit</a:t>
            </a:r>
            <a:endParaRPr b="1" lang="en-US" sz="18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208000" y="3240000"/>
            <a:ext cx="2880000" cy="12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ffdf7"/>
                </a:solidFill>
                <a:latin typeface="Noto Sans CJK SC"/>
              </a:rPr>
              <a:t>Leader </a:t>
            </a:r>
            <a:r>
              <a:rPr b="0" lang="zh-CN" sz="1200" spc="-1" strike="noStrike">
                <a:solidFill>
                  <a:srgbClr val="fffdf7"/>
                </a:solidFill>
                <a:latin typeface="Noto Sans CJK SC"/>
              </a:rPr>
              <a:t>动态委派与补证决策</a:t>
            </a:r>
            <a:endParaRPr b="0" lang="en-US" sz="12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0" lang="en-US" sz="1200" spc="-1" strike="noStrike">
                <a:solidFill>
                  <a:srgbClr val="fffdf7"/>
                </a:solidFill>
                <a:latin typeface="Noto Sans CJK SC"/>
              </a:rPr>
              <a:t>Worker </a:t>
            </a:r>
            <a:r>
              <a:rPr b="0" lang="zh-CN" sz="1200" spc="-1" strike="noStrike">
                <a:solidFill>
                  <a:srgbClr val="fffdf7"/>
                </a:solidFill>
                <a:latin typeface="Noto Sans CJK SC"/>
              </a:rPr>
              <a:t>最小权限 </a:t>
            </a:r>
            <a:r>
              <a:rPr b="0" lang="en-US" sz="1200" spc="-1" strike="noStrike">
                <a:solidFill>
                  <a:srgbClr val="fffdf7"/>
                </a:solidFill>
                <a:latin typeface="Noto Sans CJK SC"/>
              </a:rPr>
              <a:t>· </a:t>
            </a:r>
            <a:r>
              <a:rPr b="0" lang="zh-CN" sz="1200" spc="-1" strike="noStrike">
                <a:solidFill>
                  <a:srgbClr val="fffdf7"/>
                </a:solidFill>
                <a:latin typeface="Noto Sans CJK SC"/>
              </a:rPr>
              <a:t>独立验证</a:t>
            </a:r>
            <a:endParaRPr b="0" lang="en-US" sz="12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fffdf7"/>
                </a:solidFill>
                <a:latin typeface="Noto Sans CJK SC"/>
              </a:rPr>
              <a:t>失败带反馈自主返工</a:t>
            </a:r>
            <a:endParaRPr b="0" lang="en-US" sz="12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0" lang="zh-CN" sz="1200" spc="-1" strike="noStrike">
                <a:solidFill>
                  <a:srgbClr val="fffdf7"/>
                </a:solidFill>
                <a:latin typeface="Noto Sans CJK SC"/>
              </a:rPr>
              <a:t>策略门禁不由模型绕过</a:t>
            </a:r>
            <a:endParaRPr b="0" lang="en-US" sz="12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15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303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16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把已验证与尚未验证分开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可信度来自证据边界，而不是把仿真指标包装成生产收益。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306" name=""/>
          <p:cNvSpPr/>
          <p:nvPr/>
        </p:nvSpPr>
        <p:spPr>
          <a:xfrm>
            <a:off x="720000" y="2556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307" name=""/>
          <p:cNvSpPr/>
          <p:nvPr/>
        </p:nvSpPr>
        <p:spPr>
          <a:xfrm>
            <a:off x="6120000" y="2556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308" name=""/>
          <p:cNvSpPr txBox="1"/>
          <p:nvPr/>
        </p:nvSpPr>
        <p:spPr>
          <a:xfrm>
            <a:off x="972000" y="2826000"/>
            <a:ext cx="4572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已验证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V1.0.0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：状态持久化与重启恢复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· Skill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版本溯源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第二类场景迁移（结算→库存）闭环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可靠性故障演练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6/6 ·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上下文治理显性化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V0.9.6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：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edit-based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补丁引擎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·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闭环率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0%→10%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三维消融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· GitLab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真实自愈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e2e 17/17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AgentTeams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运行时 </a:t>
            </a:r>
            <a:r>
              <a:rPr b="1" lang="en-US" sz="1200" spc="-1" strike="noStrike">
                <a:solidFill>
                  <a:srgbClr val="12231d"/>
                </a:solidFill>
                <a:latin typeface="Noto Sans CJK SC"/>
              </a:rPr>
              <a:t>18/18 · Chaos </a:t>
            </a:r>
            <a:r>
              <a:rPr b="1" lang="zh-CN" sz="1200" spc="-1" strike="noStrike">
                <a:solidFill>
                  <a:srgbClr val="12231d"/>
                </a:solidFill>
                <a:latin typeface="Noto Sans CJK SC"/>
              </a:rPr>
              <a:t>故障注入</a:t>
            </a:r>
            <a:endParaRPr b="1" lang="en-US" sz="12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372000" y="2826000"/>
            <a:ext cx="4824000" cy="26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诚实边界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AgentTeams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为官方软件本地实跑，非生产集群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DB Branch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为本地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PostgreSQL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等价语义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生产路径为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PolarDB Agentic Database Branch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MTTR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基线为 </a:t>
            </a:r>
            <a:r>
              <a:rPr b="1" lang="en-US" sz="1200" spc="-1" strike="noStrike">
                <a:solidFill>
                  <a:srgbClr val="0e7053"/>
                </a:solidFill>
                <a:latin typeface="Noto Sans CJK SC"/>
              </a:rPr>
              <a:t>3 </a:t>
            </a:r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例仿真计时，标注区间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迁移场景为团队构造仿真，非生产数据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16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313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17 / 18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12231d"/>
                </a:solidFill>
                <a:latin typeface="Noto Sans CJK SC"/>
              </a:rPr>
              <a:t>可复制性：跨域迁移已实测</a:t>
            </a:r>
            <a:endParaRPr b="1" lang="en-US" sz="27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60716a"/>
                </a:solidFill>
                <a:latin typeface="Noto Sans CJK SC"/>
              </a:rPr>
              <a:t>从结算支付域到库存域，机制零改动复制，闭环一次跑通。</a:t>
            </a:r>
            <a:endParaRPr b="0" lang="en-US" sz="15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316" name=""/>
          <p:cNvSpPr/>
          <p:nvPr/>
        </p:nvSpPr>
        <p:spPr>
          <a:xfrm>
            <a:off x="720000" y="2520000"/>
            <a:ext cx="5112000" cy="3168000"/>
          </a:xfrm>
          <a:prstGeom prst="rect">
            <a:avLst/>
          </a:prstGeom>
          <a:solidFill>
            <a:srgbClr val="fffdf7"/>
          </a:solidFill>
          <a:ln w="0">
            <a:solidFill>
              <a:srgbClr val="0e7053"/>
            </a:solidFill>
          </a:ln>
        </p:spPr>
      </p:sp>
      <p:sp>
        <p:nvSpPr>
          <p:cNvPr id="317" name=""/>
          <p:cNvSpPr txBox="1"/>
          <p:nvPr/>
        </p:nvSpPr>
        <p:spPr>
          <a:xfrm>
            <a:off x="972000" y="2718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0e7053"/>
                </a:solidFill>
                <a:latin typeface="Noto Sans CJK SC"/>
              </a:rPr>
              <a:t>保持不变（机制零改动）</a:t>
            </a:r>
            <a:endParaRPr b="1" lang="en-US" sz="12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972000" y="2988000"/>
            <a:ext cx="457200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保持不变（零改动）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case-lifecycle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状态机与熔断策略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7 Worker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边界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+ Manager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委派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7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个版本化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Skill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（版本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+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摘要进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trace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）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门禁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审批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证据链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幂等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隔离工作区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319" name=""/>
          <p:cNvSpPr/>
          <p:nvPr/>
        </p:nvSpPr>
        <p:spPr>
          <a:xfrm>
            <a:off x="6120000" y="2520000"/>
            <a:ext cx="5328000" cy="3168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320" name=""/>
          <p:cNvSpPr txBox="1"/>
          <p:nvPr/>
        </p:nvSpPr>
        <p:spPr>
          <a:xfrm>
            <a:off x="6372000" y="2718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迁移时替换 </a:t>
            </a:r>
            <a:r>
              <a:rPr b="1" lang="en-US" sz="12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1" lang="zh-CN" sz="1200" spc="-1" strike="noStrike">
                <a:solidFill>
                  <a:srgbClr val="60716a"/>
                </a:solidFill>
                <a:latin typeface="Noto Sans CJK SC"/>
              </a:rPr>
              <a:t>实测结果</a:t>
            </a:r>
            <a:endParaRPr b="1" lang="en-US" sz="12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372000" y="2988000"/>
            <a:ext cx="482400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迁移时替换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fixture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仓库（含真实失败测试）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分层信号池（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surface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表象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/ deep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深层）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业务断言与修复模板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·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知识域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Episode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实测：两域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Worker×Skill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序列、状态路径、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MCP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工具集完全一致；均 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3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失败→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4 </a:t>
            </a:r>
            <a:r>
              <a:rPr b="0" lang="zh-CN" sz="1300" spc="-1" strike="noStrike">
                <a:solidFill>
                  <a:srgbClr val="12231d"/>
                </a:solidFill>
                <a:latin typeface="Noto Sans CJK SC"/>
              </a:rPr>
              <a:t>通过→</a:t>
            </a:r>
            <a:r>
              <a:rPr b="0" lang="en-US" sz="1300" spc="-1" strike="noStrike">
                <a:solidFill>
                  <a:srgbClr val="12231d"/>
                </a:solidFill>
                <a:latin typeface="Noto Sans CJK SC"/>
              </a:rPr>
              <a:t>promoted</a:t>
            </a:r>
            <a:endParaRPr b="0" lang="en-US" sz="13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17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325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18 / 18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700" spc="-1" strike="noStrike">
                <a:solidFill>
                  <a:srgbClr val="fffdf7"/>
                </a:solidFill>
                <a:latin typeface="Noto Sans CJK SC"/>
              </a:rPr>
              <a:t>让每个研发团队，都有一支可验证的交付小队</a:t>
            </a:r>
            <a:endParaRPr b="1" lang="en-US" sz="27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38000" y="1800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b8c9c2"/>
                </a:solidFill>
                <a:latin typeface="Noto Sans CJK SC"/>
              </a:rPr>
              <a:t>DevOrbit </a:t>
            </a:r>
            <a:r>
              <a:rPr b="0" lang="zh-CN" sz="1500" spc="-1" strike="noStrike">
                <a:solidFill>
                  <a:srgbClr val="b8c9c2"/>
                </a:solidFill>
                <a:latin typeface="Noto Sans CJK SC"/>
              </a:rPr>
              <a:t>不替代专家判断，而是把判断所需的证据、动作边界和结果验证组织起来。</a:t>
            </a:r>
            <a:endParaRPr b="0" lang="en-US" sz="15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328" name=""/>
          <p:cNvSpPr/>
          <p:nvPr/>
        </p:nvSpPr>
        <p:spPr>
          <a:xfrm>
            <a:off x="720000" y="2736000"/>
            <a:ext cx="10728000" cy="1908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329" name=""/>
          <p:cNvSpPr txBox="1"/>
          <p:nvPr/>
        </p:nvSpPr>
        <p:spPr>
          <a:xfrm>
            <a:off x="972000" y="2970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01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972000" y="3240000"/>
            <a:ext cx="2736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300" spc="-1" strike="noStrike">
                <a:solidFill>
                  <a:srgbClr val="fffdf7"/>
                </a:solidFill>
                <a:latin typeface="Noto Sans CJK SC"/>
              </a:rPr>
              <a:t>有依据</a:t>
            </a:r>
            <a:endParaRPr b="1" lang="en-US" sz="2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72000" y="3744000"/>
            <a:ext cx="2736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根因绑定现场与历史引用</a:t>
            </a:r>
            <a:endParaRPr b="0" lang="en-US" sz="11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4464000" y="2970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02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464000" y="3240000"/>
            <a:ext cx="2736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300" spc="-1" strike="noStrike">
                <a:solidFill>
                  <a:srgbClr val="fffdf7"/>
                </a:solidFill>
                <a:latin typeface="Noto Sans CJK SC"/>
              </a:rPr>
              <a:t>有边界</a:t>
            </a:r>
            <a:endParaRPr b="1" lang="en-US" sz="2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464000" y="3744000"/>
            <a:ext cx="2736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最小权限、审批与回滚</a:t>
            </a:r>
            <a:endParaRPr b="0" lang="en-US" sz="11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956000" y="2970000"/>
            <a:ext cx="432000" cy="1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ccef73"/>
                </a:solidFill>
                <a:latin typeface="Courier New"/>
              </a:rPr>
              <a:t>03</a:t>
            </a:r>
            <a:endParaRPr b="1" lang="en-US" sz="9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956000" y="3240000"/>
            <a:ext cx="2736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300" spc="-1" strike="noStrike">
                <a:solidFill>
                  <a:srgbClr val="fffdf7"/>
                </a:solidFill>
                <a:latin typeface="Noto Sans CJK SC"/>
              </a:rPr>
              <a:t>可验证</a:t>
            </a:r>
            <a:endParaRPr b="1" lang="en-US" sz="2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956000" y="3744000"/>
            <a:ext cx="2736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b8c9c2"/>
                </a:solidFill>
                <a:latin typeface="Noto Sans CJK SC"/>
              </a:rPr>
              <a:t>独立测试、灰度与司法级审计</a:t>
            </a:r>
            <a:endParaRPr b="0" lang="en-US" sz="11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38000" y="5184000"/>
            <a:ext cx="64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ccef73"/>
                </a:solidFill>
                <a:latin typeface="Noto Sans CJK SC"/>
              </a:rPr>
              <a:t>GOAI Agent Infra </a:t>
            </a:r>
            <a:r>
              <a:rPr b="1" lang="zh-CN" sz="1100" spc="-1" strike="noStrike">
                <a:solidFill>
                  <a:srgbClr val="ccef73"/>
                </a:solidFill>
                <a:latin typeface="Noto Sans CJK SC"/>
              </a:rPr>
              <a:t>复赛 </a:t>
            </a:r>
            <a:r>
              <a:rPr b="1" lang="en-US" sz="1100" spc="-1" strike="noStrike">
                <a:solidFill>
                  <a:srgbClr val="ccef73"/>
                </a:solidFill>
                <a:latin typeface="Noto Sans CJK SC"/>
              </a:rPr>
              <a:t>· V1.0.0 · 2026</a:t>
            </a:r>
            <a:r>
              <a:rPr b="1" lang="zh-CN" sz="1100" spc="-1" strike="noStrike">
                <a:solidFill>
                  <a:srgbClr val="ccef73"/>
                </a:solidFill>
                <a:latin typeface="Noto Sans CJK SC"/>
              </a:rPr>
              <a:t>年</a:t>
            </a:r>
            <a:r>
              <a:rPr b="1" lang="en-US" sz="1100" spc="-1" strike="noStrike">
                <a:solidFill>
                  <a:srgbClr val="ccef73"/>
                </a:solidFill>
                <a:latin typeface="Noto Sans CJK SC"/>
              </a:rPr>
              <a:t>8</a:t>
            </a:r>
            <a:r>
              <a:rPr b="1" lang="zh-CN" sz="1100" spc="-1" strike="noStrike">
                <a:solidFill>
                  <a:srgbClr val="ccef73"/>
                </a:solidFill>
                <a:latin typeface="Noto Sans CJK SC"/>
              </a:rPr>
              <a:t>月</a:t>
            </a:r>
            <a:r>
              <a:rPr b="1" lang="en-US" sz="1100" spc="-1" strike="noStrike">
                <a:solidFill>
                  <a:srgbClr val="ccef73"/>
                </a:solidFill>
                <a:latin typeface="Noto Sans CJK SC"/>
              </a:rPr>
              <a:t>31</a:t>
            </a:r>
            <a:r>
              <a:rPr b="1" lang="zh-CN" sz="1100" spc="-1" strike="noStrike">
                <a:solidFill>
                  <a:srgbClr val="ccef73"/>
                </a:solidFill>
                <a:latin typeface="Noto Sans CJK SC"/>
              </a:rPr>
              <a:t>日</a:t>
            </a:r>
            <a:endParaRPr b="1" lang="en-US" sz="11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720000" y="6408000"/>
            <a:ext cx="846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· RAG · Evidence-first · 2026-08-31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18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2026-08-29T19:32:39Z</dcterms:created>
  <dc:creator/>
  <dc:description/>
  <dc:language>en-US</dc:language>
  <cp:lastModifiedBy/>
  <dcterms:modified xsi:type="dcterms:W3CDTF">2026-08-29T19:32:42Z</dcterms:modified>
  <cp:revision>1</cp:revision>
  <dc:subject/>
  <dc:title/>
</cp:coreProperties>
</file>